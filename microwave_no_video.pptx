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87" r:id="rId18"/>
    <p:sldId id="278" r:id="rId19"/>
    <p:sldId id="280" r:id="rId20"/>
    <p:sldId id="289" r:id="rId21"/>
    <p:sldId id="290" r:id="rId22"/>
    <p:sldId id="282" r:id="rId23"/>
    <p:sldId id="285" r:id="rId24"/>
  </p:sldIdLst>
  <p:sldSz cx="12192000" cy="6858000"/>
  <p:notesSz cx="6858000" cy="9144000"/>
  <p:embeddedFontLst>
    <p:embeddedFont>
      <p:font typeface="맑은 고딕" panose="020B0503020000020004" pitchFamily="50" charset="-127"/>
      <p:regular r:id="rId26"/>
      <p:bold r:id="rId27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맑은 고딕"/>
      <a:buNone/>
      <a:defRPr sz="1400" b="0" i="0" u="none" strike="noStrike" cap="none" spc="0">
        <a:solidFill>
          <a:srgbClr val="000000"/>
        </a:solidFill>
        <a:latin typeface="맑은 고딕"/>
        <a:ea typeface="맑은 고딕"/>
        <a:cs typeface="맑은 고딕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3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7664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3442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5927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>
            <a:extLst>
              <a:ext uri="{FF2B5EF4-FFF2-40B4-BE49-F238E27FC236}">
                <a16:creationId xmlns:a16="http://schemas.microsoft.com/office/drawing/2014/main" id="{B12F58C6-10B7-49D6-A2B8-4788B884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맑은 고딕"/>
              <a:buNone/>
              <a:defRPr sz="4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3" name="Google Shape;13;p34">
            <a:extLst>
              <a:ext uri="{FF2B5EF4-FFF2-40B4-BE49-F238E27FC236}">
                <a16:creationId xmlns:a16="http://schemas.microsoft.com/office/drawing/2014/main" id="{E5FBEB41-8E30-45C1-9CBC-CBD0187FC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맑은 고딕"/>
              <a:buNone/>
              <a:defRPr sz="2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맑은 고딕"/>
              <a:buNone/>
              <a:defRPr sz="2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맑은 고딕"/>
              <a:buNone/>
              <a:defRPr sz="20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5">
            <a:extLst>
              <a:ext uri="{FF2B5EF4-FFF2-40B4-BE49-F238E27FC236}">
                <a16:creationId xmlns:a16="http://schemas.microsoft.com/office/drawing/2014/main" id="{B8000B5B-6591-4D50-975B-BF81BEB1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맑은 고딕"/>
              <a:buNone/>
              <a:defRPr sz="4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6">
            <a:extLst>
              <a:ext uri="{FF2B5EF4-FFF2-40B4-BE49-F238E27FC236}">
                <a16:creationId xmlns:a16="http://schemas.microsoft.com/office/drawing/2014/main" id="{88B17C62-7020-4A62-974C-B37E6F4E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맑은 고딕"/>
              <a:buNone/>
              <a:defRPr sz="4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8" name="Google Shape;18;p36">
            <a:extLst>
              <a:ext uri="{FF2B5EF4-FFF2-40B4-BE49-F238E27FC236}">
                <a16:creationId xmlns:a16="http://schemas.microsoft.com/office/drawing/2014/main" id="{581522A2-1192-4214-971C-5B85AC002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맑은 고딕"/>
              <a:buChar char="•"/>
              <a:defRPr sz="2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맑은 고딕"/>
              <a:buChar char="•"/>
              <a:defRPr sz="2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맑은 고딕"/>
              <a:buChar char="•"/>
              <a:defRPr sz="20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>
            <a:extLst>
              <a:ext uri="{FF2B5EF4-FFF2-40B4-BE49-F238E27FC236}">
                <a16:creationId xmlns:a16="http://schemas.microsoft.com/office/drawing/2014/main" id="{24F67F00-0037-4B29-9DC7-C7AB4143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맑은 고딕"/>
              <a:buNone/>
              <a:defRPr sz="4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21" name="Google Shape;21;p37">
            <a:extLst>
              <a:ext uri="{FF2B5EF4-FFF2-40B4-BE49-F238E27FC236}">
                <a16:creationId xmlns:a16="http://schemas.microsoft.com/office/drawing/2014/main" id="{A2B72B0D-E6FB-47A9-AB07-4907DAC88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맑은 고딕"/>
              <a:buChar char="•"/>
              <a:defRPr sz="2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맑은 고딕"/>
              <a:buChar char="•"/>
              <a:defRPr sz="2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맑은 고딕"/>
              <a:buChar char="•"/>
              <a:defRPr sz="20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22" name="Google Shape;22;p37">
            <a:extLst>
              <a:ext uri="{FF2B5EF4-FFF2-40B4-BE49-F238E27FC236}">
                <a16:creationId xmlns:a16="http://schemas.microsoft.com/office/drawing/2014/main" id="{A4302DBE-50A8-4129-BC7F-CE519E8023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맑은 고딕"/>
              <a:buChar char="•"/>
              <a:defRPr sz="2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맑은 고딕"/>
              <a:buChar char="•"/>
              <a:defRPr sz="2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맑은 고딕"/>
              <a:buChar char="•"/>
              <a:defRPr sz="20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>
            <a:extLst>
              <a:ext uri="{FF2B5EF4-FFF2-40B4-BE49-F238E27FC236}">
                <a16:creationId xmlns:a16="http://schemas.microsoft.com/office/drawing/2014/main" id="{85A95540-3BDD-4F90-BF19-204F3B28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맑은 고딕"/>
              <a:buNone/>
              <a:defRPr sz="4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2pPr>
            <a:lvl3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3pPr>
            <a:lvl4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4pPr>
            <a:lvl5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5pPr>
            <a:lvl6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6pPr>
            <a:lvl7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7pPr>
            <a:lvl8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8pPr>
            <a:lvl9pPr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맑은 고딕"/>
              <a:buNone/>
              <a:defRPr sz="1800" b="0" i="0" u="none" strike="noStrike" cap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25" name="Google Shape;25;p38">
            <a:extLst>
              <a:ext uri="{FF2B5EF4-FFF2-40B4-BE49-F238E27FC236}">
                <a16:creationId xmlns:a16="http://schemas.microsoft.com/office/drawing/2014/main" id="{6D994896-77F3-450D-B840-B04A543AB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 marL="457200" marR="0" indent="-406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맑은 고딕"/>
              <a:buChar char="•"/>
              <a:defRPr sz="2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1pPr>
            <a:lvl2pPr marL="914400" marR="0" indent="-381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맑은 고딕"/>
              <a:buChar char="•"/>
              <a:defRPr sz="24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2pPr>
            <a:lvl3pPr marL="1371600" marR="0" indent="-355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맑은 고딕"/>
              <a:buChar char="•"/>
              <a:defRPr sz="20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3pPr>
            <a:lvl4pPr marL="18288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4pPr>
            <a:lvl5pPr marL="22860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5pPr>
            <a:lvl6pPr marL="27432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6pPr>
            <a:lvl7pPr marL="32004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7pPr>
            <a:lvl8pPr marL="3657600" marR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8pPr>
            <a:lvl9pPr marL="4114800" marR="0" indent="-34290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맑은 고딕"/>
              <a:buChar char="•"/>
              <a:defRPr sz="18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맑은 고딕"/>
        <a:buNone/>
        <a:defRPr sz="1400" b="0" i="0" u="none" strike="noStrike" cap="none" spc="0">
          <a:solidFill>
            <a:srgbClr val="000000"/>
          </a:solidFill>
          <a:latin typeface="맑은 고딕"/>
          <a:ea typeface="맑은 고딕"/>
          <a:cs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x-1">
            <a:extLst>
              <a:ext uri="{FF2B5EF4-FFF2-40B4-BE49-F238E27FC236}">
                <a16:creationId xmlns:a16="http://schemas.microsoft.com/office/drawing/2014/main" id="{CCA5B16C-0BB2-4A78-9F24-ABBCB5F8A6D9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95250" cy="952500"/>
          </a:xfrm>
          <a:prstGeom prst="rect">
            <a:avLst/>
          </a:prstGeom>
          <a:solidFill>
            <a:srgbClr val="111311"/>
          </a:solidFill>
          <a:ln w="9525">
            <a:solidFill>
              <a:srgbClr val="111311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43" name="line-2">
            <a:extLst>
              <a:ext uri="{FF2B5EF4-FFF2-40B4-BE49-F238E27FC236}">
                <a16:creationId xmlns:a16="http://schemas.microsoft.com/office/drawing/2014/main" id="{A434E383-7477-4BDB-B3DD-6C367264250C}"/>
              </a:ext>
            </a:extLst>
          </p:cNvPr>
          <p:cNvSpPr>
            <a:spLocks noGrp="1"/>
          </p:cNvSpPr>
          <p:nvPr/>
        </p:nvSpPr>
        <p:spPr>
          <a:xfrm>
            <a:off x="933450" y="838200"/>
            <a:ext cx="4895850" cy="0"/>
          </a:xfrm>
          <a:prstGeom prst="line">
            <a:avLst/>
          </a:prstGeom>
          <a:noFill/>
          <a:ln w="9525">
            <a:solidFill>
              <a:srgbClr val="747A75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44" name="text-3">
            <a:extLst>
              <a:ext uri="{FF2B5EF4-FFF2-40B4-BE49-F238E27FC236}">
                <a16:creationId xmlns:a16="http://schemas.microsoft.com/office/drawing/2014/main" id="{6FFDCDF7-3AD3-4713-93F1-C98DBC3D082A}"/>
              </a:ext>
            </a:extLst>
          </p:cNvPr>
          <p:cNvSpPr>
            <a:spLocks noGrp="1"/>
          </p:cNvSpPr>
          <p:nvPr/>
        </p:nvSpPr>
        <p:spPr>
          <a:xfrm>
            <a:off x="1028700" y="10477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FPGA MICROWAVE PROJECT</a:t>
            </a:r>
          </a:p>
        </p:txBody>
      </p:sp>
      <p:sp>
        <p:nvSpPr>
          <p:cNvPr id="45" name="text-4">
            <a:extLst>
              <a:ext uri="{FF2B5EF4-FFF2-40B4-BE49-F238E27FC236}">
                <a16:creationId xmlns:a16="http://schemas.microsoft.com/office/drawing/2014/main" id="{335056BE-44B1-4B78-9111-9C57248FB8C1}"/>
              </a:ext>
            </a:extLst>
          </p:cNvPr>
          <p:cNvSpPr>
            <a:spLocks noGrp="1"/>
          </p:cNvSpPr>
          <p:nvPr/>
        </p:nvSpPr>
        <p:spPr>
          <a:xfrm>
            <a:off x="1028700" y="1809750"/>
            <a:ext cx="5334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FPGA </a:t>
            </a:r>
            <a:r>
              <a:rPr sz="33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전자레인지</a:t>
            </a:r>
            <a:endParaRPr sz="33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text-6">
            <a:extLst>
              <a:ext uri="{FF2B5EF4-FFF2-40B4-BE49-F238E27FC236}">
                <a16:creationId xmlns:a16="http://schemas.microsoft.com/office/drawing/2014/main" id="{18C6825E-3381-4A6E-B688-61E6B1C98F34}"/>
              </a:ext>
            </a:extLst>
          </p:cNvPr>
          <p:cNvSpPr>
            <a:spLocks noGrp="1"/>
          </p:cNvSpPr>
          <p:nvPr/>
        </p:nvSpPr>
        <p:spPr>
          <a:xfrm>
            <a:off x="1028700" y="55626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>
                <a:latin typeface="맑은 고딕"/>
                <a:ea typeface="맑은 고딕"/>
                <a:cs typeface="맑은 고딕"/>
              </a:rPr>
              <a:t>이양배</a:t>
            </a:r>
            <a:endParaRPr sz="1725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236" y="914400"/>
            <a:ext cx="4057237" cy="506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>
            <a:extLst>
              <a:ext uri="{FF2B5EF4-FFF2-40B4-BE49-F238E27FC236}">
                <a16:creationId xmlns:a16="http://schemas.microsoft.com/office/drawing/2014/main" id="{64E0319E-1B5B-4BBE-A0C6-C68B1D5B4C8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54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목차</a:t>
            </a:r>
            <a:endParaRPr sz="40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Google Shape;49;p2">
            <a:extLst>
              <a:ext uri="{FF2B5EF4-FFF2-40B4-BE49-F238E27FC236}">
                <a16:creationId xmlns:a16="http://schemas.microsoft.com/office/drawing/2014/main" id="{2504313B-D471-425E-8167-3999105C63E8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BED9E529-81C7-4E92-8BE7-09118351AB4C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line-10">
            <a:extLst>
              <a:ext uri="{FF2B5EF4-FFF2-40B4-BE49-F238E27FC236}">
                <a16:creationId xmlns:a16="http://schemas.microsoft.com/office/drawing/2014/main" id="{BD9081A1-6FA3-445B-A309-9096FB7A808E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56" name="text-11">
            <a:extLst>
              <a:ext uri="{FF2B5EF4-FFF2-40B4-BE49-F238E27FC236}">
                <a16:creationId xmlns:a16="http://schemas.microsoft.com/office/drawing/2014/main" id="{16699DC9-1AE8-4CE1-8805-4D0F3478914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95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7" name="text-12">
            <a:extLst>
              <a:ext uri="{FF2B5EF4-FFF2-40B4-BE49-F238E27FC236}">
                <a16:creationId xmlns:a16="http://schemas.microsoft.com/office/drawing/2014/main" id="{6F420737-DC11-4C9B-A327-8B294262985F}"/>
              </a:ext>
            </a:extLst>
          </p:cNvPr>
          <p:cNvSpPr>
            <a:spLocks noGrp="1"/>
          </p:cNvSpPr>
          <p:nvPr/>
        </p:nvSpPr>
        <p:spPr>
          <a:xfrm>
            <a:off x="1809750" y="195262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서론 · 개요</a:t>
            </a:r>
          </a:p>
        </p:txBody>
      </p:sp>
      <p:sp>
        <p:nvSpPr>
          <p:cNvPr id="58" name="text-13">
            <a:extLst>
              <a:ext uri="{FF2B5EF4-FFF2-40B4-BE49-F238E27FC236}">
                <a16:creationId xmlns:a16="http://schemas.microsoft.com/office/drawing/2014/main" id="{6D877F52-F7A8-48D3-8901-49347EDA0F89}"/>
              </a:ext>
            </a:extLst>
          </p:cNvPr>
          <p:cNvSpPr>
            <a:spLocks noGrp="1"/>
          </p:cNvSpPr>
          <p:nvPr/>
        </p:nvSpPr>
        <p:spPr>
          <a:xfrm>
            <a:off x="1809750" y="24955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개발 목표 / 요구 기능 / 하드웨어 구성</a:t>
            </a:r>
          </a:p>
        </p:txBody>
      </p:sp>
      <p:sp>
        <p:nvSpPr>
          <p:cNvPr id="59" name="line-14">
            <a:extLst>
              <a:ext uri="{FF2B5EF4-FFF2-40B4-BE49-F238E27FC236}">
                <a16:creationId xmlns:a16="http://schemas.microsoft.com/office/drawing/2014/main" id="{0F67B1C7-70D7-477E-A9B8-D3AB863FCAF5}"/>
              </a:ext>
            </a:extLst>
          </p:cNvPr>
          <p:cNvSpPr>
            <a:spLocks noGrp="1"/>
          </p:cNvSpPr>
          <p:nvPr/>
        </p:nvSpPr>
        <p:spPr>
          <a:xfrm>
            <a:off x="1809750" y="2981325"/>
            <a:ext cx="9772650" cy="0"/>
          </a:xfrm>
          <a:prstGeom prst="line">
            <a:avLst/>
          </a:prstGeom>
          <a:noFill/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60" name="text-15">
            <a:extLst>
              <a:ext uri="{FF2B5EF4-FFF2-40B4-BE49-F238E27FC236}">
                <a16:creationId xmlns:a16="http://schemas.microsoft.com/office/drawing/2014/main" id="{D86CF0D5-E269-4ABE-8A90-CA77B40DB24F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95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1" name="text-16">
            <a:extLst>
              <a:ext uri="{FF2B5EF4-FFF2-40B4-BE49-F238E27FC236}">
                <a16:creationId xmlns:a16="http://schemas.microsoft.com/office/drawing/2014/main" id="{89210F2A-0C32-4899-B23E-B6D35F630A24}"/>
              </a:ext>
            </a:extLst>
          </p:cNvPr>
          <p:cNvSpPr>
            <a:spLocks noGrp="1"/>
          </p:cNvSpPr>
          <p:nvPr/>
        </p:nvSpPr>
        <p:spPr>
          <a:xfrm>
            <a:off x="1809750" y="3219450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본론 · 구현 내용</a:t>
            </a:r>
          </a:p>
        </p:txBody>
      </p:sp>
      <p:sp>
        <p:nvSpPr>
          <p:cNvPr id="62" name="text-17">
            <a:extLst>
              <a:ext uri="{FF2B5EF4-FFF2-40B4-BE49-F238E27FC236}">
                <a16:creationId xmlns:a16="http://schemas.microsoft.com/office/drawing/2014/main" id="{AB02648B-FD49-4633-A038-ED1E9C0B42C6}"/>
              </a:ext>
            </a:extLst>
          </p:cNvPr>
          <p:cNvSpPr>
            <a:spLocks noGrp="1"/>
          </p:cNvSpPr>
          <p:nvPr/>
        </p:nvSpPr>
        <p:spPr>
          <a:xfrm>
            <a:off x="1809750" y="37623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Architecture / FSM / Source / Test Bench / 동작 영상</a:t>
            </a:r>
          </a:p>
        </p:txBody>
      </p:sp>
      <p:sp>
        <p:nvSpPr>
          <p:cNvPr id="63" name="line-18">
            <a:extLst>
              <a:ext uri="{FF2B5EF4-FFF2-40B4-BE49-F238E27FC236}">
                <a16:creationId xmlns:a16="http://schemas.microsoft.com/office/drawing/2014/main" id="{19E0CD46-2C68-43AC-BE32-44BAA2D8A907}"/>
              </a:ext>
            </a:extLst>
          </p:cNvPr>
          <p:cNvSpPr>
            <a:spLocks noGrp="1"/>
          </p:cNvSpPr>
          <p:nvPr/>
        </p:nvSpPr>
        <p:spPr>
          <a:xfrm>
            <a:off x="1809750" y="4248150"/>
            <a:ext cx="9772650" cy="0"/>
          </a:xfrm>
          <a:prstGeom prst="line">
            <a:avLst/>
          </a:prstGeom>
          <a:noFill/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64" name="text-19">
            <a:extLst>
              <a:ext uri="{FF2B5EF4-FFF2-40B4-BE49-F238E27FC236}">
                <a16:creationId xmlns:a16="http://schemas.microsoft.com/office/drawing/2014/main" id="{CB05E6C7-54CE-44E6-89C4-ECF408EA2274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95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5" name="text-20">
            <a:extLst>
              <a:ext uri="{FF2B5EF4-FFF2-40B4-BE49-F238E27FC236}">
                <a16:creationId xmlns:a16="http://schemas.microsoft.com/office/drawing/2014/main" id="{D53BD9C2-0EC5-44A9-BD55-CC2DAC149893}"/>
              </a:ext>
            </a:extLst>
          </p:cNvPr>
          <p:cNvSpPr>
            <a:spLocks noGrp="1"/>
          </p:cNvSpPr>
          <p:nvPr/>
        </p:nvSpPr>
        <p:spPr>
          <a:xfrm>
            <a:off x="1809750" y="448627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TroubleShooting · 구현 </a:t>
            </a:r>
            <a:r>
              <a:rPr sz="225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후기</a:t>
            </a:r>
            <a:endParaRPr sz="225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6" name="text-21">
            <a:extLst>
              <a:ext uri="{FF2B5EF4-FFF2-40B4-BE49-F238E27FC236}">
                <a16:creationId xmlns:a16="http://schemas.microsoft.com/office/drawing/2014/main" id="{E4B47AD8-AB09-4D98-ACFA-0790279FE14C}"/>
              </a:ext>
            </a:extLst>
          </p:cNvPr>
          <p:cNvSpPr>
            <a:spLocks noGrp="1"/>
          </p:cNvSpPr>
          <p:nvPr/>
        </p:nvSpPr>
        <p:spPr>
          <a:xfrm>
            <a:off x="1809750" y="50292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mtClean="0">
                <a:latin typeface="맑은 고딕"/>
                <a:ea typeface="맑은 고딕"/>
                <a:cs typeface="맑은 고딕"/>
              </a:rPr>
              <a:t>문제와 해결 </a:t>
            </a:r>
            <a:r>
              <a:rPr lang="en-US" altLang="ko-KR" smtClean="0">
                <a:latin typeface="맑은 고딕"/>
                <a:ea typeface="맑은 고딕"/>
                <a:cs typeface="맑은 고딕"/>
              </a:rPr>
              <a:t>/ </a:t>
            </a:r>
            <a:r>
              <a:rPr lang="ko-KR" altLang="en-US" smtClean="0">
                <a:latin typeface="맑은 고딕"/>
                <a:ea typeface="맑은 고딕"/>
                <a:cs typeface="맑은 고딕"/>
              </a:rPr>
              <a:t>결론</a:t>
            </a:r>
            <a:endParaRPr sz="1800" b="0">
              <a:solidFill>
                <a:srgbClr val="747A7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5916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BCC8A1F6-534D-4BA5-B156-B146169867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프로젝트 개요와 요구 기능</a:t>
            </a:r>
            <a:endParaRPr sz="16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E09A101-FD2C-4CBF-A133-EAF0D0F4B2D0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A0490D0C-73F3-4976-83FB-9D726AF5EECC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PROJECT OVERVIEW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0" name="line-23">
            <a:extLst>
              <a:ext uri="{FF2B5EF4-FFF2-40B4-BE49-F238E27FC236}">
                <a16:creationId xmlns:a16="http://schemas.microsoft.com/office/drawing/2014/main" id="{AD91E99F-747F-47EF-813B-515013D749A7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E1847805-0031-445C-AA4B-021E7CF64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0397075"/>
              </p:ext>
            </p:extLst>
          </p:nvPr>
        </p:nvGraphicFramePr>
        <p:xfrm>
          <a:off x="603504" y="2778125"/>
          <a:ext cx="10972800" cy="39052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기능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설정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로터리 한 칸당 1초 증감, 00분 00초 ~ 99분 59초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동작 제어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/ 일시정지 / 재개 / 취소를 FSM으로 제어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남은 분·초와 회전 애니메이션 교대, 종료 시 0을 3회 점멸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문·모터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서보 문 열기·닫기, 문 열림 시 정지, DC 모터 3단 속도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소리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버튼·문 동작음과 종료곡을 이벤트마다 1회 재생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497840" y="1612097"/>
            <a:ext cx="11078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/>
              <a:t>Basys3 FPGA</a:t>
            </a:r>
            <a:r>
              <a:rPr lang="ko-KR" altLang="en-US" sz="2800" b="1"/>
              <a:t>와 </a:t>
            </a:r>
            <a:r>
              <a:rPr lang="en-US" altLang="ko-KR" sz="2800" b="1"/>
              <a:t>Verilog</a:t>
            </a:r>
            <a:r>
              <a:rPr lang="ko-KR" altLang="en-US" sz="2800" b="1"/>
              <a:t>를 이용해 전자레인지의 주요 </a:t>
            </a:r>
            <a:r>
              <a:rPr lang="ko-KR" altLang="en-US" sz="2800" b="1" smtClean="0"/>
              <a:t>동작을 구현</a:t>
            </a:r>
            <a:r>
              <a:rPr lang="en-US" altLang="ko-KR" sz="2800" b="1" smtClean="0"/>
              <a:t/>
            </a:r>
            <a:br>
              <a:rPr lang="en-US" altLang="ko-KR" sz="2800" b="1" smtClean="0"/>
            </a:br>
            <a:r>
              <a:rPr lang="ko-KR" altLang="en-US" sz="2800" b="1" smtClean="0"/>
              <a:t>기능별 </a:t>
            </a:r>
            <a:r>
              <a:rPr lang="ko-KR" altLang="en-US" sz="2800" b="1"/>
              <a:t>모듈을 </a:t>
            </a:r>
            <a:r>
              <a:rPr lang="en-US" altLang="ko-KR" sz="2800" b="1"/>
              <a:t>FSM</a:t>
            </a:r>
            <a:r>
              <a:rPr lang="ko-KR" altLang="en-US" sz="2800" b="1"/>
              <a:t>으로 </a:t>
            </a:r>
            <a:r>
              <a:rPr lang="ko-KR" altLang="en-US" sz="2800" b="1" smtClean="0"/>
              <a:t>제어</a:t>
            </a:r>
            <a:r>
              <a:rPr lang="en-US" altLang="ko-KR" sz="2800" b="1" smtClean="0"/>
              <a:t>, </a:t>
            </a:r>
            <a:r>
              <a:rPr lang="ko-KR" altLang="en-US" sz="2800" b="1" smtClean="0"/>
              <a:t>시간 </a:t>
            </a:r>
            <a:r>
              <a:rPr lang="ko-KR" altLang="en-US" sz="2800" b="1"/>
              <a:t>설정부터 조리 종료까지의 동작</a:t>
            </a:r>
          </a:p>
        </p:txBody>
      </p:sp>
    </p:spTree>
    <p:extLst>
      <p:ext uri="{BB962C8B-B14F-4D97-AF65-F5344CB8AC3E}">
        <p14:creationId xmlns:p14="http://schemas.microsoft.com/office/powerpoint/2010/main" val="161185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>
            <a:extLst>
              <a:ext uri="{FF2B5EF4-FFF2-40B4-BE49-F238E27FC236}">
                <a16:creationId xmlns:a16="http://schemas.microsoft.com/office/drawing/2014/main" id="{F21249A9-35B4-4516-A591-4F69A2E6D4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환경 및 핀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3" name="Google Shape;143;p4">
            <a:extLst>
              <a:ext uri="{FF2B5EF4-FFF2-40B4-BE49-F238E27FC236}">
                <a16:creationId xmlns:a16="http://schemas.microsoft.com/office/drawing/2014/main" id="{CC110950-9256-44D8-808F-7BB7329EF777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4" name="Google Shape;144;p4">
            <a:extLst>
              <a:ext uri="{FF2B5EF4-FFF2-40B4-BE49-F238E27FC236}">
                <a16:creationId xmlns:a16="http://schemas.microsoft.com/office/drawing/2014/main" id="{4C525614-B10D-404B-B9E9-2842D51DDFC6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HARDWARE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8" name="text-25">
            <a:extLst>
              <a:ext uri="{FF2B5EF4-FFF2-40B4-BE49-F238E27FC236}">
                <a16:creationId xmlns:a16="http://schemas.microsoft.com/office/drawing/2014/main" id="{DBC26781-F4E8-4B69-8581-047BEF37DED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Basys3의 100 MHz 클럭과 Pmod 입출력으로 주변 장치 연결</a:t>
            </a:r>
          </a:p>
        </p:txBody>
      </p:sp>
      <p:sp>
        <p:nvSpPr>
          <p:cNvPr id="149" name="line-26">
            <a:extLst>
              <a:ext uri="{FF2B5EF4-FFF2-40B4-BE49-F238E27FC236}">
                <a16:creationId xmlns:a16="http://schemas.microsoft.com/office/drawing/2014/main" id="{6CA4B442-243F-4FD8-ADD6-9A96372BE2C9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552A0577-565D-4375-B491-8A3DE1CEA965}"/>
              </a:ext>
            </a:extLst>
          </p:cNvPr>
          <p:cNvGraphicFramePr/>
          <p:nvPr/>
        </p:nvGraphicFramePr>
        <p:xfrm>
          <a:off x="609600" y="1762125"/>
          <a:ext cx="10972800" cy="3943350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/ 핀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FPGA / 도구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Basys3 / Vivado 2020.2 / Verilog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클럭 / 초기화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clk W5, 10 ns / reset R2(SW15) / cancel U18(BTNC)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로터리 / 버튼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 M18, s2 N17, key P18 / open J3, close L3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모터 / 서보 / 부저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PWM J1, IN[0] L2, IN[1] J2 / servo B16 / buzzer K17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내장 FND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an[3:0], seg[7:0] / seg[7] = DP(V7)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93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>
            <a:extLst>
              <a:ext uri="{FF2B5EF4-FFF2-40B4-BE49-F238E27FC236}">
                <a16:creationId xmlns:a16="http://schemas.microsoft.com/office/drawing/2014/main" id="{B1B8D3B3-B0CC-41A1-BCC9-1C2F40E20E3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Architecture · 모듈 블록도</a:t>
            </a:r>
          </a:p>
        </p:txBody>
      </p:sp>
      <p:sp>
        <p:nvSpPr>
          <p:cNvPr id="185" name="Google Shape;185;p5">
            <a:extLst>
              <a:ext uri="{FF2B5EF4-FFF2-40B4-BE49-F238E27FC236}">
                <a16:creationId xmlns:a16="http://schemas.microsoft.com/office/drawing/2014/main" id="{F145491C-362F-49BF-BFAF-157CED97FFE3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6" name="Google Shape;186;p5">
            <a:extLst>
              <a:ext uri="{FF2B5EF4-FFF2-40B4-BE49-F238E27FC236}">
                <a16:creationId xmlns:a16="http://schemas.microsoft.com/office/drawing/2014/main" id="{B00B3B0A-F43D-450F-BA18-00918586CB13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SYSTEM ARCHITECTURE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B6BD57-9055-4A73-85B9-EDFD11825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936412"/>
            <a:ext cx="11202516" cy="530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1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>
            <a:extLst>
              <a:ext uri="{FF2B5EF4-FFF2-40B4-BE49-F238E27FC236}">
                <a16:creationId xmlns:a16="http://schemas.microsoft.com/office/drawing/2014/main" id="{62D2EFAF-00B9-4B19-9255-04C3CED2305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모듈 간 신호 규약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5" name="Google Shape;205;p6">
            <a:extLst>
              <a:ext uri="{FF2B5EF4-FFF2-40B4-BE49-F238E27FC236}">
                <a16:creationId xmlns:a16="http://schemas.microsoft.com/office/drawing/2014/main" id="{B05BD606-FC81-4CFB-BDF1-F96C20ED6045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6" name="Google Shape;206;p6">
            <a:extLst>
              <a:ext uri="{FF2B5EF4-FFF2-40B4-BE49-F238E27FC236}">
                <a16:creationId xmlns:a16="http://schemas.microsoft.com/office/drawing/2014/main" id="{A7AFE346-0175-46B7-8793-AFE3719C4D55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INTERFACE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0" name="text-103">
            <a:extLst>
              <a:ext uri="{FF2B5EF4-FFF2-40B4-BE49-F238E27FC236}">
                <a16:creationId xmlns:a16="http://schemas.microsoft.com/office/drawing/2014/main" id="{7727ECFC-785F-48B8-9443-F487DDFEBDA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시간은 이진수 초로 전달하고, 동작 명령은 2비트 코드로 전달</a:t>
            </a:r>
          </a:p>
        </p:txBody>
      </p:sp>
      <p:sp>
        <p:nvSpPr>
          <p:cNvPr id="211" name="line-104">
            <a:extLst>
              <a:ext uri="{FF2B5EF4-FFF2-40B4-BE49-F238E27FC236}">
                <a16:creationId xmlns:a16="http://schemas.microsoft.com/office/drawing/2014/main" id="{113BB3BD-FB6D-4E51-AC04-E9925FC9C6BA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graphicFrame>
        <p:nvGraphicFramePr>
          <p:cNvPr id="212" name="표 211">
            <a:extLst>
              <a:ext uri="{FF2B5EF4-FFF2-40B4-BE49-F238E27FC236}">
                <a16:creationId xmlns:a16="http://schemas.microsoft.com/office/drawing/2014/main" id="{A06D5F77-4D91-47E0-BA18-DF56041E3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9798057"/>
              </p:ext>
            </p:extLst>
          </p:nvPr>
        </p:nvGraphicFramePr>
        <p:xfrm>
          <a:off x="609600" y="1762125"/>
          <a:ext cx="10972800" cy="4267200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신호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규약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inc_dec[1:0]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rotary → timer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없음 / 01 +1초 / 10 −1초, 1클록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 / set_en / clear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FSM → timer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1비트, 진행 / 설정 허용 / 초기화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timeout / display_time[15:0]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timer → FSM / FND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0이면 timeout=1 / 0~5999초 이진수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display_mode[1:0]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FSM → FND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시간 / 01 시간·회전 교대 / 10 0000 / 11 소등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open_close[1:0]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FSM → servo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00·11 유지 / 01 열기 / 10 닫기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buzzer_cmd[1:0]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FSM → buzzer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새 명령 없음 / 01 열기·버튼음 / 10 닫기 / 11 종료곡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pwm_duty[1:0]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FSM → motor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정지 / 01 25% / 10 80% / 11 100%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95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>
            <a:extLst>
              <a:ext uri="{FF2B5EF4-FFF2-40B4-BE49-F238E27FC236}">
                <a16:creationId xmlns:a16="http://schemas.microsoft.com/office/drawing/2014/main" id="{F4581DFB-8E9A-4F86-B243-A5DE320DAEB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모듈 구성과 역할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5" name="Google Shape;265;p7">
            <a:extLst>
              <a:ext uri="{FF2B5EF4-FFF2-40B4-BE49-F238E27FC236}">
                <a16:creationId xmlns:a16="http://schemas.microsoft.com/office/drawing/2014/main" id="{012BD437-EFF6-43F4-9390-D122B16D1D57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6" name="Google Shape;266;p7">
            <a:extLst>
              <a:ext uri="{FF2B5EF4-FFF2-40B4-BE49-F238E27FC236}">
                <a16:creationId xmlns:a16="http://schemas.microsoft.com/office/drawing/2014/main" id="{0DC18157-CD63-46CC-88C4-DD4C8A5499FE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MODULES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0" name="text-106">
            <a:extLst>
              <a:ext uri="{FF2B5EF4-FFF2-40B4-BE49-F238E27FC236}">
                <a16:creationId xmlns:a16="http://schemas.microsoft.com/office/drawing/2014/main" id="{10A7B00D-1BD6-4CC9-89F5-64CD8AD28CD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입력 처리, 제어, 출력 생성으로 기능을 </a:t>
            </a:r>
            <a:r>
              <a:rPr sz="18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나</a:t>
            </a:r>
            <a:r>
              <a:rPr lang="ko-KR" altLang="en-US" sz="18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눔</a:t>
            </a:r>
            <a:endParaRPr sz="18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1" name="line-107">
            <a:extLst>
              <a:ext uri="{FF2B5EF4-FFF2-40B4-BE49-F238E27FC236}">
                <a16:creationId xmlns:a16="http://schemas.microsoft.com/office/drawing/2014/main" id="{C08D2601-C1E8-4E0C-B373-B5E564F104E3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graphicFrame>
        <p:nvGraphicFramePr>
          <p:cNvPr id="272" name="표 271">
            <a:extLst>
              <a:ext uri="{FF2B5EF4-FFF2-40B4-BE49-F238E27FC236}">
                <a16:creationId xmlns:a16="http://schemas.microsoft.com/office/drawing/2014/main" id="{24030B53-9787-4A40-ADC7-41D595957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3187980"/>
              </p:ext>
            </p:extLst>
          </p:nvPr>
        </p:nvGraphicFramePr>
        <p:xfrm>
          <a:off x="609600" y="1762125"/>
          <a:ext cx="10972800" cy="417195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4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파일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기능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btn_debouncer.v / rotary.v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안정화 / 회전 방향과 한 칸 검출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timer.v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 단위 시간 저장, 증감, 카운트다운, timeout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 제어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main_fsm.v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6상태 전이</a:t>
                      </a:r>
                      <a:r>
                        <a:rPr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 </a:t>
                      </a:r>
                      <a:r>
                        <a:rPr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</a:t>
                      </a:r>
                      <a:r>
                        <a:rPr lang="en-US"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</a:t>
                      </a:r>
                      <a:r>
                        <a:rPr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모드 선택</a:t>
                      </a:r>
                      <a:endParaRPr sz="1500" b="0">
                        <a:solidFill>
                          <a:srgbClr val="11131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fnd_control.v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MM.SS 변환, 4자리 스캔, 회전·종료 표시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구동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servo_control.v / motor_control.v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 목표 위치와 DC 모터 PWM 생성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buzzer_control.v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명령을 저장하고 음높이·길이·멜로디 진행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top_microwave.v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클럭·리셋·버튼·출력 포트와 모듈 연결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69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>
            <a:extLst>
              <a:ext uri="{FF2B5EF4-FFF2-40B4-BE49-F238E27FC236}">
                <a16:creationId xmlns:a16="http://schemas.microsoft.com/office/drawing/2014/main" id="{B192196D-A7B7-430E-B114-10F9EE515E2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FSM · 전체 상태도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0" name="Google Shape;350;p9">
            <a:extLst>
              <a:ext uri="{FF2B5EF4-FFF2-40B4-BE49-F238E27FC236}">
                <a16:creationId xmlns:a16="http://schemas.microsoft.com/office/drawing/2014/main" id="{837052B5-BFD2-46CB-BB40-1D8C9D60E1D0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1" name="Google Shape;351;p9">
            <a:extLst>
              <a:ext uri="{FF2B5EF4-FFF2-40B4-BE49-F238E27FC236}">
                <a16:creationId xmlns:a16="http://schemas.microsoft.com/office/drawing/2014/main" id="{87B7ACEA-F549-4D38-9CA3-FC8A6F73F104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FINITE STATE MACHINE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5" name="text-112">
            <a:extLst>
              <a:ext uri="{FF2B5EF4-FFF2-40B4-BE49-F238E27FC236}">
                <a16:creationId xmlns:a16="http://schemas.microsoft.com/office/drawing/2014/main" id="{5E8989E8-1341-49AD-BF91-3D9860881EE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6개 상태로 시간 설정, 조리, 일시정지, 문 동작과 종료 알림 제어</a:t>
            </a:r>
          </a:p>
        </p:txBody>
      </p:sp>
      <p:sp>
        <p:nvSpPr>
          <p:cNvPr id="356" name="line-113">
            <a:extLst>
              <a:ext uri="{FF2B5EF4-FFF2-40B4-BE49-F238E27FC236}">
                <a16:creationId xmlns:a16="http://schemas.microsoft.com/office/drawing/2014/main" id="{04403C2C-86A4-41FE-A37E-15E9F80C0065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57" name="box-114">
            <a:extLst>
              <a:ext uri="{FF2B5EF4-FFF2-40B4-BE49-F238E27FC236}">
                <a16:creationId xmlns:a16="http://schemas.microsoft.com/office/drawing/2014/main" id="{3C646736-8575-40D8-B588-62B95EEAA13E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2381250" cy="819150"/>
          </a:xfrm>
          <a:prstGeom prst="rect">
            <a:avLst/>
          </a:prstGeom>
          <a:solidFill>
            <a:srgbClr val="F0F5EC"/>
          </a:solidFill>
          <a:ln w="952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58" name="text-115">
            <a:extLst>
              <a:ext uri="{FF2B5EF4-FFF2-40B4-BE49-F238E27FC236}">
                <a16:creationId xmlns:a16="http://schemas.microsoft.com/office/drawing/2014/main" id="{232B9D14-F8F6-4CC5-B082-550DD0160322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SET_TIME</a:t>
            </a:r>
          </a:p>
        </p:txBody>
      </p:sp>
      <p:sp>
        <p:nvSpPr>
          <p:cNvPr id="359" name="text-116">
            <a:extLst>
              <a:ext uri="{FF2B5EF4-FFF2-40B4-BE49-F238E27FC236}">
                <a16:creationId xmlns:a16="http://schemas.microsoft.com/office/drawing/2014/main" id="{88F82D02-9A83-4310-98E1-7EB3ECDF71A3}"/>
              </a:ext>
            </a:extLst>
          </p:cNvPr>
          <p:cNvSpPr>
            <a:spLocks noGrp="1"/>
          </p:cNvSpPr>
          <p:nvPr/>
        </p:nvSpPr>
        <p:spPr>
          <a:xfrm>
            <a:off x="895350" y="263842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시간 설정 / 모터 정지</a:t>
            </a:r>
          </a:p>
        </p:txBody>
      </p:sp>
      <p:sp>
        <p:nvSpPr>
          <p:cNvPr id="360" name="box-117">
            <a:extLst>
              <a:ext uri="{FF2B5EF4-FFF2-40B4-BE49-F238E27FC236}">
                <a16:creationId xmlns:a16="http://schemas.microsoft.com/office/drawing/2014/main" id="{F30C4769-5006-4F42-94CA-1684CC6EAC26}"/>
              </a:ext>
            </a:extLst>
          </p:cNvPr>
          <p:cNvSpPr>
            <a:spLocks noGrp="1"/>
          </p:cNvSpPr>
          <p:nvPr/>
        </p:nvSpPr>
        <p:spPr>
          <a:xfrm>
            <a:off x="4857750" y="2171700"/>
            <a:ext cx="2381250" cy="819150"/>
          </a:xfrm>
          <a:prstGeom prst="rect">
            <a:avLst/>
          </a:prstGeom>
          <a:solidFill>
            <a:srgbClr val="F0F5EC"/>
          </a:solidFill>
          <a:ln w="952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61" name="text-118">
            <a:extLst>
              <a:ext uri="{FF2B5EF4-FFF2-40B4-BE49-F238E27FC236}">
                <a16:creationId xmlns:a16="http://schemas.microsoft.com/office/drawing/2014/main" id="{526FB08A-196D-4881-99DE-31069BD8A49D}"/>
              </a:ext>
            </a:extLst>
          </p:cNvPr>
          <p:cNvSpPr>
            <a:spLocks noGrp="1"/>
          </p:cNvSpPr>
          <p:nvPr/>
        </p:nvSpPr>
        <p:spPr>
          <a:xfrm>
            <a:off x="4953000" y="2286000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RUN</a:t>
            </a:r>
          </a:p>
        </p:txBody>
      </p:sp>
      <p:sp>
        <p:nvSpPr>
          <p:cNvPr id="362" name="text-119">
            <a:extLst>
              <a:ext uri="{FF2B5EF4-FFF2-40B4-BE49-F238E27FC236}">
                <a16:creationId xmlns:a16="http://schemas.microsoft.com/office/drawing/2014/main" id="{6A32C854-DFA5-4AFF-9D42-828EF3CCEFA3}"/>
              </a:ext>
            </a:extLst>
          </p:cNvPr>
          <p:cNvSpPr>
            <a:spLocks noGrp="1"/>
          </p:cNvSpPr>
          <p:nvPr/>
        </p:nvSpPr>
        <p:spPr>
          <a:xfrm>
            <a:off x="4953000" y="263842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카운트다운 / 모터 회전</a:t>
            </a:r>
          </a:p>
        </p:txBody>
      </p:sp>
      <p:sp>
        <p:nvSpPr>
          <p:cNvPr id="363" name="box-120">
            <a:extLst>
              <a:ext uri="{FF2B5EF4-FFF2-40B4-BE49-F238E27FC236}">
                <a16:creationId xmlns:a16="http://schemas.microsoft.com/office/drawing/2014/main" id="{C89B15C0-470F-41B6-A45F-67C51B093AF8}"/>
              </a:ext>
            </a:extLst>
          </p:cNvPr>
          <p:cNvSpPr>
            <a:spLocks noGrp="1"/>
          </p:cNvSpPr>
          <p:nvPr/>
        </p:nvSpPr>
        <p:spPr>
          <a:xfrm>
            <a:off x="8915400" y="2171700"/>
            <a:ext cx="2381250" cy="819150"/>
          </a:xfrm>
          <a:prstGeom prst="rect">
            <a:avLst/>
          </a:prstGeom>
          <a:solidFill>
            <a:srgbClr val="F0F5EC"/>
          </a:solidFill>
          <a:ln w="952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64" name="text-121">
            <a:extLst>
              <a:ext uri="{FF2B5EF4-FFF2-40B4-BE49-F238E27FC236}">
                <a16:creationId xmlns:a16="http://schemas.microsoft.com/office/drawing/2014/main" id="{683760C4-3D10-4625-A335-CE21E7C71B8B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DONE</a:t>
            </a:r>
          </a:p>
        </p:txBody>
      </p:sp>
      <p:sp>
        <p:nvSpPr>
          <p:cNvPr id="365" name="text-122">
            <a:extLst>
              <a:ext uri="{FF2B5EF4-FFF2-40B4-BE49-F238E27FC236}">
                <a16:creationId xmlns:a16="http://schemas.microsoft.com/office/drawing/2014/main" id="{806A4CCE-0C5E-4542-9F82-8E34BC69A6A0}"/>
              </a:ext>
            </a:extLst>
          </p:cNvPr>
          <p:cNvSpPr>
            <a:spLocks noGrp="1"/>
          </p:cNvSpPr>
          <p:nvPr/>
        </p:nvSpPr>
        <p:spPr>
          <a:xfrm>
            <a:off x="9010650" y="263842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0을 3회 점멸 / 종료곡</a:t>
            </a:r>
          </a:p>
        </p:txBody>
      </p:sp>
      <p:sp>
        <p:nvSpPr>
          <p:cNvPr id="366" name="box-123">
            <a:extLst>
              <a:ext uri="{FF2B5EF4-FFF2-40B4-BE49-F238E27FC236}">
                <a16:creationId xmlns:a16="http://schemas.microsoft.com/office/drawing/2014/main" id="{185201BE-020D-4FC1-9737-753D8C1CB099}"/>
              </a:ext>
            </a:extLst>
          </p:cNvPr>
          <p:cNvSpPr>
            <a:spLocks noGrp="1"/>
          </p:cNvSpPr>
          <p:nvPr/>
        </p:nvSpPr>
        <p:spPr>
          <a:xfrm>
            <a:off x="800100" y="4410075"/>
            <a:ext cx="2381250" cy="819150"/>
          </a:xfrm>
          <a:prstGeom prst="rect">
            <a:avLst/>
          </a:prstGeom>
          <a:solidFill>
            <a:srgbClr val="F0F5EC"/>
          </a:solidFill>
          <a:ln w="952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67" name="text-124">
            <a:extLst>
              <a:ext uri="{FF2B5EF4-FFF2-40B4-BE49-F238E27FC236}">
                <a16:creationId xmlns:a16="http://schemas.microsoft.com/office/drawing/2014/main" id="{54343415-8F36-4A67-B4E7-B7EA9A872949}"/>
              </a:ext>
            </a:extLst>
          </p:cNvPr>
          <p:cNvSpPr>
            <a:spLocks noGrp="1"/>
          </p:cNvSpPr>
          <p:nvPr/>
        </p:nvSpPr>
        <p:spPr>
          <a:xfrm>
            <a:off x="895350" y="452437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CLOSING</a:t>
            </a:r>
          </a:p>
        </p:txBody>
      </p:sp>
      <p:sp>
        <p:nvSpPr>
          <p:cNvPr id="368" name="text-125">
            <a:extLst>
              <a:ext uri="{FF2B5EF4-FFF2-40B4-BE49-F238E27FC236}">
                <a16:creationId xmlns:a16="http://schemas.microsoft.com/office/drawing/2014/main" id="{344E788B-11F7-4BBC-9C83-907BA10D130D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닫기 명령 / 500 ms 대기</a:t>
            </a:r>
          </a:p>
        </p:txBody>
      </p:sp>
      <p:sp>
        <p:nvSpPr>
          <p:cNvPr id="369" name="box-126">
            <a:extLst>
              <a:ext uri="{FF2B5EF4-FFF2-40B4-BE49-F238E27FC236}">
                <a16:creationId xmlns:a16="http://schemas.microsoft.com/office/drawing/2014/main" id="{3E8D7144-867F-4380-B4EF-2B61F9C2EB9E}"/>
              </a:ext>
            </a:extLst>
          </p:cNvPr>
          <p:cNvSpPr>
            <a:spLocks noGrp="1"/>
          </p:cNvSpPr>
          <p:nvPr/>
        </p:nvSpPr>
        <p:spPr>
          <a:xfrm>
            <a:off x="4857750" y="4410075"/>
            <a:ext cx="2381250" cy="819150"/>
          </a:xfrm>
          <a:prstGeom prst="rect">
            <a:avLst/>
          </a:prstGeom>
          <a:solidFill>
            <a:srgbClr val="F0F5EC"/>
          </a:solidFill>
          <a:ln w="952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70" name="text-127">
            <a:extLst>
              <a:ext uri="{FF2B5EF4-FFF2-40B4-BE49-F238E27FC236}">
                <a16:creationId xmlns:a16="http://schemas.microsoft.com/office/drawing/2014/main" id="{B721818B-38C8-48A3-B120-532FFFDA056C}"/>
              </a:ext>
            </a:extLst>
          </p:cNvPr>
          <p:cNvSpPr>
            <a:spLocks noGrp="1"/>
          </p:cNvSpPr>
          <p:nvPr/>
        </p:nvSpPr>
        <p:spPr>
          <a:xfrm>
            <a:off x="4953000" y="452437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PAUSE</a:t>
            </a:r>
          </a:p>
        </p:txBody>
      </p:sp>
      <p:sp>
        <p:nvSpPr>
          <p:cNvPr id="371" name="text-128">
            <a:extLst>
              <a:ext uri="{FF2B5EF4-FFF2-40B4-BE49-F238E27FC236}">
                <a16:creationId xmlns:a16="http://schemas.microsoft.com/office/drawing/2014/main" id="{A568D274-20CC-4E8C-9103-1A311A7D1D4E}"/>
              </a:ext>
            </a:extLst>
          </p:cNvPr>
          <p:cNvSpPr>
            <a:spLocks noGrp="1"/>
          </p:cNvSpPr>
          <p:nvPr/>
        </p:nvSpPr>
        <p:spPr>
          <a:xfrm>
            <a:off x="4953000" y="48768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남은 시간·분주값 보존</a:t>
            </a:r>
          </a:p>
        </p:txBody>
      </p:sp>
      <p:sp>
        <p:nvSpPr>
          <p:cNvPr id="372" name="box-129">
            <a:extLst>
              <a:ext uri="{FF2B5EF4-FFF2-40B4-BE49-F238E27FC236}">
                <a16:creationId xmlns:a16="http://schemas.microsoft.com/office/drawing/2014/main" id="{2F323059-3047-46EE-8DEB-69B2CCF88D65}"/>
              </a:ext>
            </a:extLst>
          </p:cNvPr>
          <p:cNvSpPr>
            <a:spLocks noGrp="1"/>
          </p:cNvSpPr>
          <p:nvPr/>
        </p:nvSpPr>
        <p:spPr>
          <a:xfrm>
            <a:off x="8915400" y="4410075"/>
            <a:ext cx="2381250" cy="819150"/>
          </a:xfrm>
          <a:prstGeom prst="rect">
            <a:avLst/>
          </a:prstGeom>
          <a:solidFill>
            <a:srgbClr val="F0F5EC"/>
          </a:solidFill>
          <a:ln w="952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73" name="text-130">
            <a:extLst>
              <a:ext uri="{FF2B5EF4-FFF2-40B4-BE49-F238E27FC236}">
                <a16:creationId xmlns:a16="http://schemas.microsoft.com/office/drawing/2014/main" id="{A34B4CF5-E21E-4F2F-8F50-67DD9C1BA192}"/>
              </a:ext>
            </a:extLst>
          </p:cNvPr>
          <p:cNvSpPr>
            <a:spLocks noGrp="1"/>
          </p:cNvSpPr>
          <p:nvPr/>
        </p:nvSpPr>
        <p:spPr>
          <a:xfrm>
            <a:off x="9010650" y="452437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DOOR_OPEN</a:t>
            </a:r>
          </a:p>
        </p:txBody>
      </p:sp>
      <p:sp>
        <p:nvSpPr>
          <p:cNvPr id="374" name="text-131">
            <a:extLst>
              <a:ext uri="{FF2B5EF4-FFF2-40B4-BE49-F238E27FC236}">
                <a16:creationId xmlns:a16="http://schemas.microsoft.com/office/drawing/2014/main" id="{1D8A9A23-BC48-44EB-857D-1F15CD4CE93A}"/>
              </a:ext>
            </a:extLst>
          </p:cNvPr>
          <p:cNvSpPr>
            <a:spLocks noGrp="1"/>
          </p:cNvSpPr>
          <p:nvPr/>
        </p:nvSpPr>
        <p:spPr>
          <a:xfrm>
            <a:off x="9010650" y="48768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문 열림 / 시간 보존</a:t>
            </a:r>
          </a:p>
        </p:txBody>
      </p:sp>
      <p:sp>
        <p:nvSpPr>
          <p:cNvPr id="375" name="line-132">
            <a:extLst>
              <a:ext uri="{FF2B5EF4-FFF2-40B4-BE49-F238E27FC236}">
                <a16:creationId xmlns:a16="http://schemas.microsoft.com/office/drawing/2014/main" id="{EC6C206C-D188-4FF7-A574-13E786CCA26C}"/>
              </a:ext>
            </a:extLst>
          </p:cNvPr>
          <p:cNvSpPr>
            <a:spLocks noGrp="1"/>
          </p:cNvSpPr>
          <p:nvPr/>
        </p:nvSpPr>
        <p:spPr>
          <a:xfrm>
            <a:off x="3181350" y="2581275"/>
            <a:ext cx="1628775" cy="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76" name="arrow-133">
            <a:extLst>
              <a:ext uri="{FF2B5EF4-FFF2-40B4-BE49-F238E27FC236}">
                <a16:creationId xmlns:a16="http://schemas.microsoft.com/office/drawing/2014/main" id="{54FB5288-BAAF-4720-820F-DAD5D62804DE}"/>
              </a:ext>
            </a:extLst>
          </p:cNvPr>
          <p:cNvSpPr>
            <a:spLocks noGrp="1"/>
          </p:cNvSpPr>
          <p:nvPr/>
        </p:nvSpPr>
        <p:spPr>
          <a:xfrm rot="5400000">
            <a:off x="4762500" y="2533650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77" name="text-134">
            <a:extLst>
              <a:ext uri="{FF2B5EF4-FFF2-40B4-BE49-F238E27FC236}">
                <a16:creationId xmlns:a16="http://schemas.microsoft.com/office/drawing/2014/main" id="{2CC4D2BB-5AA8-4956-9EEE-A32ABBDD278D}"/>
              </a:ext>
            </a:extLst>
          </p:cNvPr>
          <p:cNvSpPr>
            <a:spLocks noGrp="1"/>
          </p:cNvSpPr>
          <p:nvPr/>
        </p:nvSpPr>
        <p:spPr>
          <a:xfrm>
            <a:off x="3267075" y="22479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key &amp;&amp; !timeout</a:t>
            </a:r>
          </a:p>
        </p:txBody>
      </p:sp>
      <p:sp>
        <p:nvSpPr>
          <p:cNvPr id="378" name="line-135">
            <a:extLst>
              <a:ext uri="{FF2B5EF4-FFF2-40B4-BE49-F238E27FC236}">
                <a16:creationId xmlns:a16="http://schemas.microsoft.com/office/drawing/2014/main" id="{447C1B3C-02A2-49C5-88AC-F2BF902B0000}"/>
              </a:ext>
            </a:extLst>
          </p:cNvPr>
          <p:cNvSpPr>
            <a:spLocks noGrp="1"/>
          </p:cNvSpPr>
          <p:nvPr/>
        </p:nvSpPr>
        <p:spPr>
          <a:xfrm>
            <a:off x="7239000" y="2581275"/>
            <a:ext cx="1628775" cy="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79" name="arrow-136">
            <a:extLst>
              <a:ext uri="{FF2B5EF4-FFF2-40B4-BE49-F238E27FC236}">
                <a16:creationId xmlns:a16="http://schemas.microsoft.com/office/drawing/2014/main" id="{E6D03E00-61C0-4DBA-8BEA-0B57F30CAC26}"/>
              </a:ext>
            </a:extLst>
          </p:cNvPr>
          <p:cNvSpPr>
            <a:spLocks noGrp="1"/>
          </p:cNvSpPr>
          <p:nvPr/>
        </p:nvSpPr>
        <p:spPr>
          <a:xfrm rot="5400000">
            <a:off x="8820150" y="2533650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0" name="text-137">
            <a:extLst>
              <a:ext uri="{FF2B5EF4-FFF2-40B4-BE49-F238E27FC236}">
                <a16:creationId xmlns:a16="http://schemas.microsoft.com/office/drawing/2014/main" id="{7A1C7272-44BB-47B1-9DA6-38B04BD6A9EE}"/>
              </a:ext>
            </a:extLst>
          </p:cNvPr>
          <p:cNvSpPr>
            <a:spLocks noGrp="1"/>
          </p:cNvSpPr>
          <p:nvPr/>
        </p:nvSpPr>
        <p:spPr>
          <a:xfrm>
            <a:off x="7543800" y="2238375"/>
            <a:ext cx="123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timeout</a:t>
            </a:r>
          </a:p>
        </p:txBody>
      </p:sp>
      <p:sp>
        <p:nvSpPr>
          <p:cNvPr id="381" name="line-138">
            <a:extLst>
              <a:ext uri="{FF2B5EF4-FFF2-40B4-BE49-F238E27FC236}">
                <a16:creationId xmlns:a16="http://schemas.microsoft.com/office/drawing/2014/main" id="{96697488-A94A-4AFC-B472-767A8AEDF7F9}"/>
              </a:ext>
            </a:extLst>
          </p:cNvPr>
          <p:cNvSpPr>
            <a:spLocks noGrp="1"/>
          </p:cNvSpPr>
          <p:nvPr/>
        </p:nvSpPr>
        <p:spPr>
          <a:xfrm>
            <a:off x="6048375" y="2990850"/>
            <a:ext cx="0" cy="137160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2" name="arrow-139">
            <a:extLst>
              <a:ext uri="{FF2B5EF4-FFF2-40B4-BE49-F238E27FC236}">
                <a16:creationId xmlns:a16="http://schemas.microsoft.com/office/drawing/2014/main" id="{3AD891D2-45A0-401F-89D5-7282DA9AFF46}"/>
              </a:ext>
            </a:extLst>
          </p:cNvPr>
          <p:cNvSpPr>
            <a:spLocks noGrp="1"/>
          </p:cNvSpPr>
          <p:nvPr/>
        </p:nvSpPr>
        <p:spPr>
          <a:xfrm rot="10800000">
            <a:off x="6000750" y="4314825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3" name="line-140">
            <a:extLst>
              <a:ext uri="{FF2B5EF4-FFF2-40B4-BE49-F238E27FC236}">
                <a16:creationId xmlns:a16="http://schemas.microsoft.com/office/drawing/2014/main" id="{D8CAF9ED-40D6-431D-B69A-76B2E405F89D}"/>
              </a:ext>
            </a:extLst>
          </p:cNvPr>
          <p:cNvSpPr>
            <a:spLocks noGrp="1"/>
          </p:cNvSpPr>
          <p:nvPr/>
        </p:nvSpPr>
        <p:spPr>
          <a:xfrm flipV="1">
            <a:off x="6238875" y="3038475"/>
            <a:ext cx="0" cy="137160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4" name="arrow-141">
            <a:extLst>
              <a:ext uri="{FF2B5EF4-FFF2-40B4-BE49-F238E27FC236}">
                <a16:creationId xmlns:a16="http://schemas.microsoft.com/office/drawing/2014/main" id="{2E32153A-F9AD-491B-85A5-DABE63E9F093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5" name="text-142">
            <a:extLst>
              <a:ext uri="{FF2B5EF4-FFF2-40B4-BE49-F238E27FC236}">
                <a16:creationId xmlns:a16="http://schemas.microsoft.com/office/drawing/2014/main" id="{BFB7A2CF-5195-49EC-99B8-033CEECB0E93}"/>
              </a:ext>
            </a:extLst>
          </p:cNvPr>
          <p:cNvSpPr>
            <a:spLocks noGrp="1"/>
          </p:cNvSpPr>
          <p:nvPr/>
        </p:nvSpPr>
        <p:spPr>
          <a:xfrm>
            <a:off x="6486525" y="3419475"/>
            <a:ext cx="2047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key</a:t>
            </a:r>
          </a:p>
          <a:p>
            <a: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정지 / 재개</a:t>
            </a:r>
          </a:p>
        </p:txBody>
      </p:sp>
      <p:sp>
        <p:nvSpPr>
          <p:cNvPr id="386" name="line-143">
            <a:extLst>
              <a:ext uri="{FF2B5EF4-FFF2-40B4-BE49-F238E27FC236}">
                <a16:creationId xmlns:a16="http://schemas.microsoft.com/office/drawing/2014/main" id="{2C95625D-83C4-4CD9-9055-851CA35D08D2}"/>
              </a:ext>
            </a:extLst>
          </p:cNvPr>
          <p:cNvSpPr>
            <a:spLocks noGrp="1"/>
          </p:cNvSpPr>
          <p:nvPr/>
        </p:nvSpPr>
        <p:spPr>
          <a:xfrm flipV="1">
            <a:off x="1990725" y="3038475"/>
            <a:ext cx="0" cy="137160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7" name="arrow-144">
            <a:extLst>
              <a:ext uri="{FF2B5EF4-FFF2-40B4-BE49-F238E27FC236}">
                <a16:creationId xmlns:a16="http://schemas.microsoft.com/office/drawing/2014/main" id="{3BEC8CC9-589C-4EE2-A54B-4A9942EECEC1}"/>
              </a:ext>
            </a:extLst>
          </p:cNvPr>
          <p:cNvSpPr>
            <a:spLocks noGrp="1"/>
          </p:cNvSpPr>
          <p:nvPr/>
        </p:nvSpPr>
        <p:spPr>
          <a:xfrm>
            <a:off x="1943100" y="2990850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88" name="text-145">
            <a:extLst>
              <a:ext uri="{FF2B5EF4-FFF2-40B4-BE49-F238E27FC236}">
                <a16:creationId xmlns:a16="http://schemas.microsoft.com/office/drawing/2014/main" id="{0DFDBBB4-AF98-4AE1-A3D4-EC181F8072BF}"/>
              </a:ext>
            </a:extLst>
          </p:cNvPr>
          <p:cNvSpPr>
            <a:spLocks noGrp="1"/>
          </p:cNvSpPr>
          <p:nvPr/>
        </p:nvSpPr>
        <p:spPr>
          <a:xfrm>
            <a:off x="2085975" y="35052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500 ms 경과</a:t>
            </a:r>
          </a:p>
        </p:txBody>
      </p:sp>
      <p:sp>
        <p:nvSpPr>
          <p:cNvPr id="389" name="line-146">
            <a:extLst>
              <a:ext uri="{FF2B5EF4-FFF2-40B4-BE49-F238E27FC236}">
                <a16:creationId xmlns:a16="http://schemas.microsoft.com/office/drawing/2014/main" id="{57BD3B80-25B4-418D-ACC6-855EF0288AE7}"/>
              </a:ext>
            </a:extLst>
          </p:cNvPr>
          <p:cNvSpPr>
            <a:spLocks noGrp="1"/>
          </p:cNvSpPr>
          <p:nvPr/>
        </p:nvSpPr>
        <p:spPr>
          <a:xfrm flipV="1">
            <a:off x="10106025" y="1762125"/>
            <a:ext cx="0" cy="409575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0" name="line-147">
            <a:extLst>
              <a:ext uri="{FF2B5EF4-FFF2-40B4-BE49-F238E27FC236}">
                <a16:creationId xmlns:a16="http://schemas.microsoft.com/office/drawing/2014/main" id="{71FF8E37-CED4-4C76-9C1C-299D6038EE1A}"/>
              </a:ext>
            </a:extLst>
          </p:cNvPr>
          <p:cNvSpPr>
            <a:spLocks noGrp="1"/>
          </p:cNvSpPr>
          <p:nvPr/>
        </p:nvSpPr>
        <p:spPr>
          <a:xfrm flipH="1">
            <a:off x="1990725" y="1762125"/>
            <a:ext cx="8115300" cy="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1" name="line-148">
            <a:extLst>
              <a:ext uri="{FF2B5EF4-FFF2-40B4-BE49-F238E27FC236}">
                <a16:creationId xmlns:a16="http://schemas.microsoft.com/office/drawing/2014/main" id="{11C9F90A-D7B3-4414-9FE2-38887108DDA0}"/>
              </a:ext>
            </a:extLst>
          </p:cNvPr>
          <p:cNvSpPr>
            <a:spLocks noGrp="1"/>
          </p:cNvSpPr>
          <p:nvPr/>
        </p:nvSpPr>
        <p:spPr>
          <a:xfrm>
            <a:off x="1990725" y="1762125"/>
            <a:ext cx="0" cy="36195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2" name="arrow-149">
            <a:extLst>
              <a:ext uri="{FF2B5EF4-FFF2-40B4-BE49-F238E27FC236}">
                <a16:creationId xmlns:a16="http://schemas.microsoft.com/office/drawing/2014/main" id="{26A168B1-F8E2-4C31-A2A9-C1AD739242D2}"/>
              </a:ext>
            </a:extLst>
          </p:cNvPr>
          <p:cNvSpPr>
            <a:spLocks noGrp="1"/>
          </p:cNvSpPr>
          <p:nvPr/>
        </p:nvSpPr>
        <p:spPr>
          <a:xfrm rot="10800000">
            <a:off x="1943100" y="2076450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3" name="text-150">
            <a:extLst>
              <a:ext uri="{FF2B5EF4-FFF2-40B4-BE49-F238E27FC236}">
                <a16:creationId xmlns:a16="http://schemas.microsoft.com/office/drawing/2014/main" id="{EA45F074-03C4-4486-BE68-F2C5405AA524}"/>
              </a:ext>
            </a:extLst>
          </p:cNvPr>
          <p:cNvSpPr>
            <a:spLocks noGrp="1"/>
          </p:cNvSpPr>
          <p:nvPr/>
        </p:nvSpPr>
        <p:spPr>
          <a:xfrm>
            <a:off x="5238750" y="1524000"/>
            <a:ext cx="1524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3초 경과</a:t>
            </a:r>
          </a:p>
        </p:txBody>
      </p:sp>
      <p:sp>
        <p:nvSpPr>
          <p:cNvPr id="394" name="line-151">
            <a:extLst>
              <a:ext uri="{FF2B5EF4-FFF2-40B4-BE49-F238E27FC236}">
                <a16:creationId xmlns:a16="http://schemas.microsoft.com/office/drawing/2014/main" id="{D0823CFD-AEF7-40BD-848A-DCE8D9ACD3C1}"/>
              </a:ext>
            </a:extLst>
          </p:cNvPr>
          <p:cNvSpPr>
            <a:spLocks noGrp="1"/>
          </p:cNvSpPr>
          <p:nvPr/>
        </p:nvSpPr>
        <p:spPr>
          <a:xfrm>
            <a:off x="10106025" y="5229225"/>
            <a:ext cx="0" cy="447675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5" name="line-152">
            <a:extLst>
              <a:ext uri="{FF2B5EF4-FFF2-40B4-BE49-F238E27FC236}">
                <a16:creationId xmlns:a16="http://schemas.microsoft.com/office/drawing/2014/main" id="{715D1E55-466D-4762-8CD9-9568DBCFDBE2}"/>
              </a:ext>
            </a:extLst>
          </p:cNvPr>
          <p:cNvSpPr>
            <a:spLocks noGrp="1"/>
          </p:cNvSpPr>
          <p:nvPr/>
        </p:nvSpPr>
        <p:spPr>
          <a:xfrm flipH="1">
            <a:off x="1990725" y="5676900"/>
            <a:ext cx="8115300" cy="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6" name="line-153">
            <a:extLst>
              <a:ext uri="{FF2B5EF4-FFF2-40B4-BE49-F238E27FC236}">
                <a16:creationId xmlns:a16="http://schemas.microsoft.com/office/drawing/2014/main" id="{CD54F82D-AE49-41B2-AAE7-08CFE0A9B22E}"/>
              </a:ext>
            </a:extLst>
          </p:cNvPr>
          <p:cNvSpPr>
            <a:spLocks noGrp="1"/>
          </p:cNvSpPr>
          <p:nvPr/>
        </p:nvSpPr>
        <p:spPr>
          <a:xfrm flipV="1">
            <a:off x="1990725" y="5276850"/>
            <a:ext cx="0" cy="400050"/>
          </a:xfrm>
          <a:prstGeom prst="line">
            <a:avLst/>
          </a:prstGeom>
          <a:noFill/>
          <a:ln w="1905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7" name="arrow-154">
            <a:extLst>
              <a:ext uri="{FF2B5EF4-FFF2-40B4-BE49-F238E27FC236}">
                <a16:creationId xmlns:a16="http://schemas.microsoft.com/office/drawing/2014/main" id="{008381F7-DF33-4C51-A63B-5367BF34B8DE}"/>
              </a:ext>
            </a:extLst>
          </p:cNvPr>
          <p:cNvSpPr>
            <a:spLocks noGrp="1"/>
          </p:cNvSpPr>
          <p:nvPr/>
        </p:nvSpPr>
        <p:spPr>
          <a:xfrm>
            <a:off x="1943100" y="5229225"/>
            <a:ext cx="95250" cy="9525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398" name="text-155">
            <a:extLst>
              <a:ext uri="{FF2B5EF4-FFF2-40B4-BE49-F238E27FC236}">
                <a16:creationId xmlns:a16="http://schemas.microsoft.com/office/drawing/2014/main" id="{144ED340-B263-42F5-AEFA-21E9B0ED12B0}"/>
              </a:ext>
            </a:extLst>
          </p:cNvPr>
          <p:cNvSpPr>
            <a:spLocks noGrp="1"/>
          </p:cNvSpPr>
          <p:nvPr/>
        </p:nvSpPr>
        <p:spPr>
          <a:xfrm>
            <a:off x="5257800" y="5753100"/>
            <a:ext cx="1619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buNone/>
              <a:def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close_btn</a:t>
            </a:r>
          </a:p>
        </p:txBody>
      </p:sp>
      <p:sp>
        <p:nvSpPr>
          <p:cNvPr id="399" name="text-156">
            <a:extLst>
              <a:ext uri="{FF2B5EF4-FFF2-40B4-BE49-F238E27FC236}">
                <a16:creationId xmlns:a16="http://schemas.microsoft.com/office/drawing/2014/main" id="{CE9B8336-1BE7-4702-98D9-BD61192696CA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전역 전이: reset / cancel은 CLOSING(시간 0), open은 DOOR_OPEN(시간 보존)</a:t>
            </a:r>
          </a:p>
        </p:txBody>
      </p:sp>
    </p:spTree>
    <p:extLst>
      <p:ext uri="{BB962C8B-B14F-4D97-AF65-F5344CB8AC3E}">
        <p14:creationId xmlns:p14="http://schemas.microsoft.com/office/powerpoint/2010/main" val="194999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">
            <a:extLst>
              <a:ext uri="{FF2B5EF4-FFF2-40B4-BE49-F238E27FC236}">
                <a16:creationId xmlns:a16="http://schemas.microsoft.com/office/drawing/2014/main" id="{D5F2335D-268E-46F5-A6A0-354ABF44859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FSM · 상태별 출력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7" name="Google Shape;387;p10">
            <a:extLst>
              <a:ext uri="{FF2B5EF4-FFF2-40B4-BE49-F238E27FC236}">
                <a16:creationId xmlns:a16="http://schemas.microsoft.com/office/drawing/2014/main" id="{D163EA10-D02D-4056-996F-120168CA7F01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8" name="Google Shape;388;p10">
            <a:extLst>
              <a:ext uri="{FF2B5EF4-FFF2-40B4-BE49-F238E27FC236}">
                <a16:creationId xmlns:a16="http://schemas.microsoft.com/office/drawing/2014/main" id="{F6999499-D864-45ED-B946-65255809DB77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STATE OUTPUTS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2" name="text-157">
            <a:extLst>
              <a:ext uri="{FF2B5EF4-FFF2-40B4-BE49-F238E27FC236}">
                <a16:creationId xmlns:a16="http://schemas.microsoft.com/office/drawing/2014/main" id="{5672D8B6-5039-4A81-B015-FD71C34E0A7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RUN에서만 카운트다운과 모터를 허용하고, 이벤트를 즉시 정지 조건에 반영</a:t>
            </a:r>
          </a:p>
        </p:txBody>
      </p:sp>
      <p:sp>
        <p:nvSpPr>
          <p:cNvPr id="393" name="line-158">
            <a:extLst>
              <a:ext uri="{FF2B5EF4-FFF2-40B4-BE49-F238E27FC236}">
                <a16:creationId xmlns:a16="http://schemas.microsoft.com/office/drawing/2014/main" id="{7E14A304-78FB-47B0-B781-5AF975091E1F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graphicFrame>
        <p:nvGraphicFramePr>
          <p:cNvPr id="394" name="표 393">
            <a:extLst>
              <a:ext uri="{FF2B5EF4-FFF2-40B4-BE49-F238E27FC236}">
                <a16:creationId xmlns:a16="http://schemas.microsoft.com/office/drawing/2014/main" id="{AA78BE65-640D-4D17-869B-444F85929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391640"/>
              </p:ext>
            </p:extLst>
          </p:nvPr>
        </p:nvGraphicFramePr>
        <p:xfrm>
          <a:off x="609600" y="1762125"/>
          <a:ext cx="10972800" cy="3533775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set_en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display_mode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open_close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pwm_duty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SET_TIME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시간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유지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1*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 시간·회전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유지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</a:t>
                      </a:r>
                      <a:r>
                        <a:rPr sz="1500" b="1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</a:t>
                      </a:r>
                      <a:endParaRPr sz="1500" b="1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PAUSE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시간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유지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DOOR_OPEN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시간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 열기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CLOSING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시간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 닫기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DONE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 / 11 </a:t>
                      </a:r>
                      <a:r>
                        <a:rPr lang="en-US"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0000</a:t>
                      </a:r>
                      <a:r>
                        <a:rPr lang="ko-KR" altLang="en-US" sz="1500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 소등</a:t>
                      </a:r>
                      <a:endParaRPr sz="1500" b="0">
                        <a:solidFill>
                          <a:srgbClr val="11131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 유지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00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5" name="text-159">
            <a:extLst>
              <a:ext uri="{FF2B5EF4-FFF2-40B4-BE49-F238E27FC236}">
                <a16:creationId xmlns:a16="http://schemas.microsoft.com/office/drawing/2014/main" id="{FF186CE0-E90A-461F-8E77-30F77195399F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* run = !timeout &amp;&amp; !cancel_p &amp;&amp; !open_p &amp;&amp; !key_p</a:t>
            </a:r>
          </a:p>
        </p:txBody>
      </p:sp>
      <p:sp>
        <p:nvSpPr>
          <p:cNvPr id="396" name="text-160">
            <a:extLst>
              <a:ext uri="{FF2B5EF4-FFF2-40B4-BE49-F238E27FC236}">
                <a16:creationId xmlns:a16="http://schemas.microsoft.com/office/drawing/2014/main" id="{7EE7A6C4-806C-4B79-BF35-655B5786C9DA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clear = reset || cancel_p. set_en도 취소·문 열기 이벤트가 발생하면 즉시 차단.</a:t>
            </a:r>
          </a:p>
        </p:txBody>
      </p:sp>
    </p:spTree>
    <p:extLst>
      <p:ext uri="{BB962C8B-B14F-4D97-AF65-F5344CB8AC3E}">
        <p14:creationId xmlns:p14="http://schemas.microsoft.com/office/powerpoint/2010/main" val="93529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">
            <a:extLst>
              <a:ext uri="{FF2B5EF4-FFF2-40B4-BE49-F238E27FC236}">
                <a16:creationId xmlns:a16="http://schemas.microsoft.com/office/drawing/2014/main" id="{BA720567-FB28-401A-B6E3-39CD861F88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Source </a:t>
            </a: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/>
              <a:t> </a:t>
            </a:r>
            <a:r>
              <a:rPr lang="ko-KR" altLang="en-US" smtClean="0"/>
              <a:t>로터리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4" name="Google Shape;424;p11">
            <a:extLst>
              <a:ext uri="{FF2B5EF4-FFF2-40B4-BE49-F238E27FC236}">
                <a16:creationId xmlns:a16="http://schemas.microsoft.com/office/drawing/2014/main" id="{88D93663-DFEB-4D99-9350-6766F4314245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5" name="Google Shape;425;p11">
            <a:extLst>
              <a:ext uri="{FF2B5EF4-FFF2-40B4-BE49-F238E27FC236}">
                <a16:creationId xmlns:a16="http://schemas.microsoft.com/office/drawing/2014/main" id="{B9CD8DDB-5036-4D0D-AFEF-47223BAFC0AA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SOURCE / INPUT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9" name="text-161">
            <a:extLst>
              <a:ext uri="{FF2B5EF4-FFF2-40B4-BE49-F238E27FC236}">
                <a16:creationId xmlns:a16="http://schemas.microsoft.com/office/drawing/2014/main" id="{F6377AF7-E25A-45D8-B7F4-C3203E562D8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A/B 위상은 레벨로 유지하고, 누적 4전이마다 방향 이벤트 발생</a:t>
            </a:r>
          </a:p>
        </p:txBody>
      </p:sp>
      <p:sp>
        <p:nvSpPr>
          <p:cNvPr id="430" name="line-162">
            <a:extLst>
              <a:ext uri="{FF2B5EF4-FFF2-40B4-BE49-F238E27FC236}">
                <a16:creationId xmlns:a16="http://schemas.microsoft.com/office/drawing/2014/main" id="{53AD042A-F9FB-46D0-9AF9-7995DD812146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432" name="box-164">
            <a:extLst>
              <a:ext uri="{FF2B5EF4-FFF2-40B4-BE49-F238E27FC236}">
                <a16:creationId xmlns:a16="http://schemas.microsoft.com/office/drawing/2014/main" id="{7ECD8E08-DA8E-4540-A907-E92F093BA525}"/>
              </a:ext>
            </a:extLst>
          </p:cNvPr>
          <p:cNvSpPr>
            <a:spLocks noGrp="1"/>
          </p:cNvSpPr>
          <p:nvPr/>
        </p:nvSpPr>
        <p:spPr>
          <a:xfrm>
            <a:off x="433388" y="1485900"/>
            <a:ext cx="5988678" cy="5462115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434" name="text-166">
            <a:extLst>
              <a:ext uri="{FF2B5EF4-FFF2-40B4-BE49-F238E27FC236}">
                <a16:creationId xmlns:a16="http://schemas.microsoft.com/office/drawing/2014/main" id="{DE246B50-79FB-4A6E-828B-583CCBD3FCCA}"/>
              </a:ext>
            </a:extLst>
          </p:cNvPr>
          <p:cNvSpPr>
            <a:spLocks noGrp="1"/>
          </p:cNvSpPr>
          <p:nvPr/>
        </p:nvSpPr>
        <p:spPr>
          <a:xfrm>
            <a:off x="6790659" y="1863357"/>
            <a:ext cx="381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처리 기준</a:t>
            </a:r>
          </a:p>
        </p:txBody>
      </p:sp>
      <p:sp>
        <p:nvSpPr>
          <p:cNvPr id="436" name="text-168">
            <a:extLst>
              <a:ext uri="{FF2B5EF4-FFF2-40B4-BE49-F238E27FC236}">
                <a16:creationId xmlns:a16="http://schemas.microsoft.com/office/drawing/2014/main" id="{BACBBE6B-C964-4652-ADC6-7E135CD59E96}"/>
              </a:ext>
            </a:extLst>
          </p:cNvPr>
          <p:cNvSpPr>
            <a:spLocks noGrp="1"/>
          </p:cNvSpPr>
          <p:nvPr/>
        </p:nvSpPr>
        <p:spPr>
          <a:xfrm>
            <a:off x="6790659" y="2519693"/>
            <a:ext cx="39624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정방향 01 / 역방향 10을 한 클록 출력</a:t>
            </a:r>
          </a:p>
        </p:txBody>
      </p:sp>
      <p:sp>
        <p:nvSpPr>
          <p:cNvPr id="437" name="text-169">
            <a:extLst>
              <a:ext uri="{FF2B5EF4-FFF2-40B4-BE49-F238E27FC236}">
                <a16:creationId xmlns:a16="http://schemas.microsoft.com/office/drawing/2014/main" id="{9A07CB97-2873-4765-BBE6-5090BEE693BF}"/>
              </a:ext>
            </a:extLst>
          </p:cNvPr>
          <p:cNvSpPr>
            <a:spLocks noGrp="1"/>
          </p:cNvSpPr>
          <p:nvPr/>
        </p:nvSpPr>
        <p:spPr>
          <a:xfrm>
            <a:off x="6790659" y="3300743"/>
            <a:ext cx="39624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같은 clk의 timer가 다음 에지에서 수신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4" y="1490191"/>
            <a:ext cx="5450856" cy="5367809"/>
          </a:xfrm>
          <a:prstGeom prst="rect">
            <a:avLst/>
          </a:prstGeom>
        </p:spPr>
      </p:pic>
      <p:sp>
        <p:nvSpPr>
          <p:cNvPr id="20" name="text-169">
            <a:extLst>
              <a:ext uri="{FF2B5EF4-FFF2-40B4-BE49-F238E27FC236}">
                <a16:creationId xmlns:a16="http://schemas.microsoft.com/office/drawing/2014/main" id="{9A07CB97-2873-4765-BBE6-5090BEE693BF}"/>
              </a:ext>
            </a:extLst>
          </p:cNvPr>
          <p:cNvSpPr>
            <a:spLocks noGrp="1"/>
          </p:cNvSpPr>
          <p:nvPr/>
        </p:nvSpPr>
        <p:spPr>
          <a:xfrm>
            <a:off x="6838950" y="4162352"/>
            <a:ext cx="39624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부호있는　정수로　증감　판단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1060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>
            <a:extLst>
              <a:ext uri="{FF2B5EF4-FFF2-40B4-BE49-F238E27FC236}">
                <a16:creationId xmlns:a16="http://schemas.microsoft.com/office/drawing/2014/main" id="{D91A534C-9995-4B5D-AAAB-A28C037792B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Source · </a:t>
            </a:r>
            <a:r>
              <a:rPr lang="ko-KR" altLang="en-US"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타이머</a:t>
            </a:r>
            <a:endParaRPr sz="2100" b="1" i="0" u="none" strike="noStrike" cap="none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4" name="Google Shape;454;p12">
            <a:extLst>
              <a:ext uri="{FF2B5EF4-FFF2-40B4-BE49-F238E27FC236}">
                <a16:creationId xmlns:a16="http://schemas.microsoft.com/office/drawing/2014/main" id="{3740AC47-0FEE-4608-A05D-98BBC38CC5A1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5" name="Google Shape;455;p12">
            <a:extLst>
              <a:ext uri="{FF2B5EF4-FFF2-40B4-BE49-F238E27FC236}">
                <a16:creationId xmlns:a16="http://schemas.microsoft.com/office/drawing/2014/main" id="{DFE5471C-2876-4CDE-ADE1-B1EF681173FB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SOURCE / TIMER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9" name="text-172">
            <a:extLst>
              <a:ext uri="{FF2B5EF4-FFF2-40B4-BE49-F238E27FC236}">
                <a16:creationId xmlns:a16="http://schemas.microsoft.com/office/drawing/2014/main" id="{973D51CA-0DFD-4D92-8B76-BAE1AE26009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로터리의 </a:t>
            </a: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1클록 </a:t>
            </a:r>
            <a:r>
              <a:rPr lang="ko-KR" altLang="en-US" smtClean="0"/>
              <a:t>체크</a:t>
            </a:r>
            <a:endParaRPr sz="18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0" name="line-173">
            <a:extLst>
              <a:ext uri="{FF2B5EF4-FFF2-40B4-BE49-F238E27FC236}">
                <a16:creationId xmlns:a16="http://schemas.microsoft.com/office/drawing/2014/main" id="{7AA8066A-71D9-48F5-9756-389FDEFB63D1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462" name="box-175">
            <a:extLst>
              <a:ext uri="{FF2B5EF4-FFF2-40B4-BE49-F238E27FC236}">
                <a16:creationId xmlns:a16="http://schemas.microsoft.com/office/drawing/2014/main" id="{145C030F-ED76-40BE-9C91-66C97ABD2600}"/>
              </a:ext>
            </a:extLst>
          </p:cNvPr>
          <p:cNvSpPr>
            <a:spLocks noGrp="1"/>
          </p:cNvSpPr>
          <p:nvPr/>
        </p:nvSpPr>
        <p:spPr>
          <a:xfrm>
            <a:off x="361507" y="1485900"/>
            <a:ext cx="7644809" cy="5024628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464" name="text-177">
            <a:extLst>
              <a:ext uri="{FF2B5EF4-FFF2-40B4-BE49-F238E27FC236}">
                <a16:creationId xmlns:a16="http://schemas.microsoft.com/office/drawing/2014/main" id="{47467D02-B179-461B-BAD4-014248EFA8A2}"/>
              </a:ext>
            </a:extLst>
          </p:cNvPr>
          <p:cNvSpPr>
            <a:spLocks noGrp="1"/>
          </p:cNvSpPr>
          <p:nvPr/>
        </p:nvSpPr>
        <p:spPr>
          <a:xfrm>
            <a:off x="8229600" y="1710690"/>
            <a:ext cx="3962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mtClean="0"/>
              <a:t>타이머 동작</a:t>
            </a:r>
            <a:endParaRPr sz="1800" b="1">
              <a:solidFill>
                <a:srgbClr val="55736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5" name="text-178">
            <a:extLst>
              <a:ext uri="{FF2B5EF4-FFF2-40B4-BE49-F238E27FC236}">
                <a16:creationId xmlns:a16="http://schemas.microsoft.com/office/drawing/2014/main" id="{3B501A9C-E816-40A1-A4B7-E0ED0541229E}"/>
              </a:ext>
            </a:extLst>
          </p:cNvPr>
          <p:cNvSpPr>
            <a:spLocks noGrp="1"/>
          </p:cNvSpPr>
          <p:nvPr/>
        </p:nvSpPr>
        <p:spPr>
          <a:xfrm>
            <a:off x="8229600" y="2234565"/>
            <a:ext cx="39624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b="1">
                <a:solidFill>
                  <a:schemeClr val="tx1"/>
                </a:solidFill>
                <a:latin typeface="Arial" panose="020B0604020202020204" pitchFamily="34" charset="0"/>
              </a:rPr>
              <a:t>시간 설정</a:t>
            </a: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다이얼 한 칸마다 1초씩 </a:t>
            </a:r>
            <a:r>
              <a:rPr lang="ko-KR" altLang="ko-KR" sz="1600" smtClean="0">
                <a:solidFill>
                  <a:schemeClr val="tx1"/>
                </a:solidFill>
                <a:latin typeface="Arial" panose="020B0604020202020204" pitchFamily="34" charset="0"/>
              </a:rPr>
              <a:t>늘리거나 </a:t>
            </a: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줄임</a:t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최대 99분 59초까지 </a:t>
            </a:r>
            <a:r>
              <a:rPr lang="ko-KR" altLang="ko-KR" sz="1600" smtClean="0">
                <a:solidFill>
                  <a:schemeClr val="tx1"/>
                </a:solidFill>
                <a:latin typeface="Arial" panose="020B0604020202020204" pitchFamily="34" charset="0"/>
              </a:rPr>
              <a:t>설정</a:t>
            </a:r>
            <a:endParaRPr lang="en-US" altLang="ko-KR" sz="160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b="1">
                <a:solidFill>
                  <a:schemeClr val="tx1"/>
                </a:solidFill>
                <a:latin typeface="Arial" panose="020B0604020202020204" pitchFamily="34" charset="0"/>
              </a:rPr>
              <a:t>조리 중</a:t>
            </a: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1초마다 남은 시간을 1초씩 감소</a:t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0초가 되면 FSM에 종료 신호 </a:t>
            </a:r>
            <a:r>
              <a:rPr lang="ko-KR" altLang="ko-KR" sz="1600" smtClean="0">
                <a:solidFill>
                  <a:schemeClr val="tx1"/>
                </a:solidFill>
                <a:latin typeface="Arial" panose="020B0604020202020204" pitchFamily="34" charset="0"/>
              </a:rPr>
              <a:t>전달</a:t>
            </a:r>
            <a:endParaRPr lang="en-US" altLang="ko-KR" sz="160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b="1">
                <a:solidFill>
                  <a:schemeClr val="tx1"/>
                </a:solidFill>
                <a:latin typeface="Arial" panose="020B0604020202020204" pitchFamily="34" charset="0"/>
              </a:rPr>
              <a:t>일시정지</a:t>
            </a: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시간 감소를 멈추고 현재 진행 상태를 유지</a:t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재개하면 멈춘 지점부터 이어서 </a:t>
            </a:r>
            <a:r>
              <a:rPr lang="ko-KR" altLang="ko-KR" sz="1600" smtClean="0">
                <a:solidFill>
                  <a:schemeClr val="tx1"/>
                </a:solidFill>
                <a:latin typeface="Arial" panose="020B0604020202020204" pitchFamily="34" charset="0"/>
              </a:rPr>
              <a:t>계산</a:t>
            </a:r>
            <a:endParaRPr lang="en-US" altLang="ko-KR" sz="160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16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1600" b="1">
                <a:solidFill>
                  <a:schemeClr val="tx1"/>
                </a:solidFill>
                <a:latin typeface="Arial" panose="020B0604020202020204" pitchFamily="34" charset="0"/>
              </a:rPr>
              <a:t>초기화·오류 복구</a:t>
            </a: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리셋이나 취소 시 시간을 0초로 초기화</a:t>
            </a:r>
            <a:b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1600">
                <a:solidFill>
                  <a:schemeClr val="tx1"/>
                </a:solidFill>
                <a:latin typeface="Arial" panose="020B0604020202020204" pitchFamily="34" charset="0"/>
              </a:rPr>
              <a:t>정상 범위를 벗어난 값도 0초로 복구</a:t>
            </a:r>
          </a:p>
        </p:txBody>
      </p:sp>
      <p:sp>
        <p:nvSpPr>
          <p:cNvPr id="466" name="text-179">
            <a:extLst>
              <a:ext uri="{FF2B5EF4-FFF2-40B4-BE49-F238E27FC236}">
                <a16:creationId xmlns:a16="http://schemas.microsoft.com/office/drawing/2014/main" id="{02358D55-E5F4-4954-80E8-22A89312B8BF}"/>
              </a:ext>
            </a:extLst>
          </p:cNvPr>
          <p:cNvSpPr>
            <a:spLocks noGrp="1"/>
          </p:cNvSpPr>
          <p:nvPr/>
        </p:nvSpPr>
        <p:spPr>
          <a:xfrm>
            <a:off x="8229600" y="6076663"/>
            <a:ext cx="39624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r>
              <a:rPr 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</a:b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reset </a:t>
            </a: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&gt; clear &gt; set_en &gt; run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92" y="1572101"/>
            <a:ext cx="3856432" cy="48522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162" y="3529400"/>
            <a:ext cx="3971478" cy="28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3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>
            <a:extLst>
              <a:ext uri="{FF2B5EF4-FFF2-40B4-BE49-F238E27FC236}">
                <a16:creationId xmlns:a16="http://schemas.microsoft.com/office/drawing/2014/main" id="{8036ECDB-9FB5-4BD6-AE73-9880105885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Source · fnd_control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8" name="Google Shape;498;p13">
            <a:extLst>
              <a:ext uri="{FF2B5EF4-FFF2-40B4-BE49-F238E27FC236}">
                <a16:creationId xmlns:a16="http://schemas.microsoft.com/office/drawing/2014/main" id="{FDC4C733-EF26-43AE-8F39-5E28CACCA10E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9" name="Google Shape;499;p13">
            <a:extLst>
              <a:ext uri="{FF2B5EF4-FFF2-40B4-BE49-F238E27FC236}">
                <a16:creationId xmlns:a16="http://schemas.microsoft.com/office/drawing/2014/main" id="{CE79AFD8-4DD0-4E67-BC4E-BBFC68E9C272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SOURCE / DISPLAY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3" name="text-183">
            <a:extLst>
              <a:ext uri="{FF2B5EF4-FFF2-40B4-BE49-F238E27FC236}">
                <a16:creationId xmlns:a16="http://schemas.microsoft.com/office/drawing/2014/main" id="{03160AFE-CFF6-4682-9955-F51249B608D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초 단위 이진수를 MM.SS로 변환하고 시간과 회전 표시를 교대</a:t>
            </a:r>
          </a:p>
        </p:txBody>
      </p:sp>
      <p:sp>
        <p:nvSpPr>
          <p:cNvPr id="504" name="line-184">
            <a:extLst>
              <a:ext uri="{FF2B5EF4-FFF2-40B4-BE49-F238E27FC236}">
                <a16:creationId xmlns:a16="http://schemas.microsoft.com/office/drawing/2014/main" id="{C6BD87DE-397E-4FC7-A0E2-918958325BFC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505" name="box-185">
            <a:extLst>
              <a:ext uri="{FF2B5EF4-FFF2-40B4-BE49-F238E27FC236}">
                <a16:creationId xmlns:a16="http://schemas.microsoft.com/office/drawing/2014/main" id="{85925014-8041-405B-9955-311AA1A4BD26}"/>
              </a:ext>
            </a:extLst>
          </p:cNvPr>
          <p:cNvSpPr>
            <a:spLocks noGrp="1"/>
          </p:cNvSpPr>
          <p:nvPr/>
        </p:nvSpPr>
        <p:spPr>
          <a:xfrm>
            <a:off x="93979" y="1485900"/>
            <a:ext cx="7805193" cy="4800599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507" name="text-187">
            <a:extLst>
              <a:ext uri="{FF2B5EF4-FFF2-40B4-BE49-F238E27FC236}">
                <a16:creationId xmlns:a16="http://schemas.microsoft.com/office/drawing/2014/main" id="{BF12AC56-5233-462F-85D4-C13E70ABA2A3}"/>
              </a:ext>
            </a:extLst>
          </p:cNvPr>
          <p:cNvSpPr>
            <a:spLocks noGrp="1"/>
          </p:cNvSpPr>
          <p:nvPr/>
        </p:nvSpPr>
        <p:spPr>
          <a:xfrm>
            <a:off x="8034669" y="1714500"/>
            <a:ext cx="3962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스캔과 애니메이션</a:t>
            </a:r>
          </a:p>
        </p:txBody>
      </p:sp>
      <p:sp>
        <p:nvSpPr>
          <p:cNvPr id="508" name="text-188">
            <a:extLst>
              <a:ext uri="{FF2B5EF4-FFF2-40B4-BE49-F238E27FC236}">
                <a16:creationId xmlns:a16="http://schemas.microsoft.com/office/drawing/2014/main" id="{416F4183-0429-4683-99B3-4A3AB5493F5B}"/>
              </a:ext>
            </a:extLst>
          </p:cNvPr>
          <p:cNvSpPr>
            <a:spLocks noGrp="1"/>
          </p:cNvSpPr>
          <p:nvPr/>
        </p:nvSpPr>
        <p:spPr>
          <a:xfrm>
            <a:off x="8034669" y="2238375"/>
            <a:ext cx="39624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1 ms / 자리, 전체 4 ms 프레임</a:t>
            </a:r>
          </a:p>
        </p:txBody>
      </p:sp>
      <p:sp>
        <p:nvSpPr>
          <p:cNvPr id="509" name="text-189">
            <a:extLst>
              <a:ext uri="{FF2B5EF4-FFF2-40B4-BE49-F238E27FC236}">
                <a16:creationId xmlns:a16="http://schemas.microsoft.com/office/drawing/2014/main" id="{C0940591-0036-4E3E-80BA-EC8E7A4383F7}"/>
              </a:ext>
            </a:extLst>
          </p:cNvPr>
          <p:cNvSpPr>
            <a:spLocks noGrp="1"/>
          </p:cNvSpPr>
          <p:nvPr/>
        </p:nvSpPr>
        <p:spPr>
          <a:xfrm>
            <a:off x="8034669" y="3000375"/>
            <a:ext cx="39624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an과 seg는 active-low</a:t>
            </a:r>
          </a:p>
        </p:txBody>
      </p:sp>
      <p:sp>
        <p:nvSpPr>
          <p:cNvPr id="510" name="text-190">
            <a:extLst>
              <a:ext uri="{FF2B5EF4-FFF2-40B4-BE49-F238E27FC236}">
                <a16:creationId xmlns:a16="http://schemas.microsoft.com/office/drawing/2014/main" id="{3978090A-7B5E-420E-BC73-0DAF98C0F9BB}"/>
              </a:ext>
            </a:extLst>
          </p:cNvPr>
          <p:cNvSpPr>
            <a:spLocks noGrp="1"/>
          </p:cNvSpPr>
          <p:nvPr/>
        </p:nvSpPr>
        <p:spPr>
          <a:xfrm>
            <a:off x="8034669" y="3762375"/>
            <a:ext cx="39624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DP로 분·초 구분, 예: 65초 = 01.05</a:t>
            </a:r>
          </a:p>
        </p:txBody>
      </p:sp>
      <p:sp>
        <p:nvSpPr>
          <p:cNvPr id="511" name="text-191">
            <a:extLst>
              <a:ext uri="{FF2B5EF4-FFF2-40B4-BE49-F238E27FC236}">
                <a16:creationId xmlns:a16="http://schemas.microsoft.com/office/drawing/2014/main" id="{8F515BFC-43A0-495C-8925-198FA98C5F36}"/>
              </a:ext>
            </a:extLst>
          </p:cNvPr>
          <p:cNvSpPr>
            <a:spLocks noGrp="1"/>
          </p:cNvSpPr>
          <p:nvPr/>
        </p:nvSpPr>
        <p:spPr>
          <a:xfrm>
            <a:off x="8034669" y="4524375"/>
            <a:ext cx="39624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100 ms씩 12</a:t>
            </a: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단계</a:t>
            </a:r>
            <a:r>
              <a:rPr 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회전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2" name="text-192">
            <a:extLst>
              <a:ext uri="{FF2B5EF4-FFF2-40B4-BE49-F238E27FC236}">
                <a16:creationId xmlns:a16="http://schemas.microsoft.com/office/drawing/2014/main" id="{4551459A-3225-4A67-8C08-9CFBBC99DB75}"/>
              </a:ext>
            </a:extLst>
          </p:cNvPr>
          <p:cNvSpPr>
            <a:spLocks noGrp="1"/>
          </p:cNvSpPr>
          <p:nvPr/>
        </p:nvSpPr>
        <p:spPr>
          <a:xfrm>
            <a:off x="609600" y="6408506"/>
            <a:ext cx="10972800" cy="4045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종료 점멸의 시간 </a:t>
            </a:r>
            <a:r>
              <a:rPr sz="1950" b="1" smtClean="0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제어는 </a:t>
            </a:r>
            <a:r>
              <a:rPr sz="19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FSM이 담당하고, FND는 ZERO / BLANK 모드를 표시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47" y="1813183"/>
            <a:ext cx="3867690" cy="16099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9" y="3460221"/>
            <a:ext cx="4601217" cy="182905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412" y="1450593"/>
            <a:ext cx="3634536" cy="451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9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">
            <a:extLst>
              <a:ext uri="{FF2B5EF4-FFF2-40B4-BE49-F238E27FC236}">
                <a16:creationId xmlns:a16="http://schemas.microsoft.com/office/drawing/2014/main" id="{D323A763-56CF-4DE1-A4AD-99D74D29286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Source · motor_control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7" name="Google Shape;557;p14">
            <a:extLst>
              <a:ext uri="{FF2B5EF4-FFF2-40B4-BE49-F238E27FC236}">
                <a16:creationId xmlns:a16="http://schemas.microsoft.com/office/drawing/2014/main" id="{08FA2087-0334-4FA4-91DD-A5970B5AD6D0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8" name="Google Shape;558;p14">
            <a:extLst>
              <a:ext uri="{FF2B5EF4-FFF2-40B4-BE49-F238E27FC236}">
                <a16:creationId xmlns:a16="http://schemas.microsoft.com/office/drawing/2014/main" id="{2346203A-4A87-48ED-A6C1-37513B34810B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SOURCE / MOTOR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2" name="text-193">
            <a:extLst>
              <a:ext uri="{FF2B5EF4-FFF2-40B4-BE49-F238E27FC236}">
                <a16:creationId xmlns:a16="http://schemas.microsoft.com/office/drawing/2014/main" id="{48D76740-2821-46AD-91BB-57A93E1991D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20 kHz PWM의 HIGH 길이로 저속·중속·고속을 선택</a:t>
            </a:r>
          </a:p>
        </p:txBody>
      </p:sp>
      <p:sp>
        <p:nvSpPr>
          <p:cNvPr id="563" name="line-194">
            <a:extLst>
              <a:ext uri="{FF2B5EF4-FFF2-40B4-BE49-F238E27FC236}">
                <a16:creationId xmlns:a16="http://schemas.microsoft.com/office/drawing/2014/main" id="{F081F4FF-E136-4FD2-B9AE-3A9DB1E72F74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564" name="box-195">
            <a:extLst>
              <a:ext uri="{FF2B5EF4-FFF2-40B4-BE49-F238E27FC236}">
                <a16:creationId xmlns:a16="http://schemas.microsoft.com/office/drawing/2014/main" id="{9A367B91-5105-40B5-A163-FDDFDEB45A0F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7229475" cy="3095625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566" name="text-197">
            <a:extLst>
              <a:ext uri="{FF2B5EF4-FFF2-40B4-BE49-F238E27FC236}">
                <a16:creationId xmlns:a16="http://schemas.microsoft.com/office/drawing/2014/main" id="{9D4D9EA5-17AD-4D85-A822-00989FA89B0B}"/>
              </a:ext>
            </a:extLst>
          </p:cNvPr>
          <p:cNvSpPr>
            <a:spLocks noGrp="1"/>
          </p:cNvSpPr>
          <p:nvPr/>
        </p:nvSpPr>
        <p:spPr>
          <a:xfrm>
            <a:off x="8201025" y="2095500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25%</a:t>
            </a:r>
          </a:p>
        </p:txBody>
      </p:sp>
      <p:sp>
        <p:nvSpPr>
          <p:cNvPr id="567" name="text-198">
            <a:extLst>
              <a:ext uri="{FF2B5EF4-FFF2-40B4-BE49-F238E27FC236}">
                <a16:creationId xmlns:a16="http://schemas.microsoft.com/office/drawing/2014/main" id="{A7032C16-B581-452D-9AA3-9E2D27C8698C}"/>
              </a:ext>
            </a:extLst>
          </p:cNvPr>
          <p:cNvSpPr>
            <a:spLocks noGrp="1"/>
          </p:cNvSpPr>
          <p:nvPr/>
        </p:nvSpPr>
        <p:spPr>
          <a:xfrm>
            <a:off x="8201025" y="2714625"/>
            <a:ext cx="3143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저속 / 코드 01</a:t>
            </a:r>
          </a:p>
        </p:txBody>
      </p:sp>
      <p:sp>
        <p:nvSpPr>
          <p:cNvPr id="568" name="text-199">
            <a:extLst>
              <a:ext uri="{FF2B5EF4-FFF2-40B4-BE49-F238E27FC236}">
                <a16:creationId xmlns:a16="http://schemas.microsoft.com/office/drawing/2014/main" id="{7CE04FF6-7EB8-4834-9E04-7B3D7C858B78}"/>
              </a:ext>
            </a:extLst>
          </p:cNvPr>
          <p:cNvSpPr>
            <a:spLocks noGrp="1"/>
          </p:cNvSpPr>
          <p:nvPr/>
        </p:nvSpPr>
        <p:spPr>
          <a:xfrm>
            <a:off x="8201025" y="3333750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569" name="text-200">
            <a:extLst>
              <a:ext uri="{FF2B5EF4-FFF2-40B4-BE49-F238E27FC236}">
                <a16:creationId xmlns:a16="http://schemas.microsoft.com/office/drawing/2014/main" id="{1187EB8E-69AB-4773-908F-827965052A1E}"/>
              </a:ext>
            </a:extLst>
          </p:cNvPr>
          <p:cNvSpPr>
            <a:spLocks noGrp="1"/>
          </p:cNvSpPr>
          <p:nvPr/>
        </p:nvSpPr>
        <p:spPr>
          <a:xfrm>
            <a:off x="8201025" y="3952875"/>
            <a:ext cx="3143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중속 / 코드 10</a:t>
            </a:r>
          </a:p>
        </p:txBody>
      </p:sp>
      <p:sp>
        <p:nvSpPr>
          <p:cNvPr id="570" name="text-201">
            <a:extLst>
              <a:ext uri="{FF2B5EF4-FFF2-40B4-BE49-F238E27FC236}">
                <a16:creationId xmlns:a16="http://schemas.microsoft.com/office/drawing/2014/main" id="{00581D21-041F-43E6-9E33-10CE9A707C93}"/>
              </a:ext>
            </a:extLst>
          </p:cNvPr>
          <p:cNvSpPr>
            <a:spLocks noGrp="1"/>
          </p:cNvSpPr>
          <p:nvPr/>
        </p:nvSpPr>
        <p:spPr>
          <a:xfrm>
            <a:off x="8201025" y="4572000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71" name="text-202">
            <a:extLst>
              <a:ext uri="{FF2B5EF4-FFF2-40B4-BE49-F238E27FC236}">
                <a16:creationId xmlns:a16="http://schemas.microsoft.com/office/drawing/2014/main" id="{051431A3-BC3B-4071-BBE5-0FF8FA0D2410}"/>
              </a:ext>
            </a:extLst>
          </p:cNvPr>
          <p:cNvSpPr>
            <a:spLocks noGrp="1"/>
          </p:cNvSpPr>
          <p:nvPr/>
        </p:nvSpPr>
        <p:spPr>
          <a:xfrm>
            <a:off x="8201025" y="5191125"/>
            <a:ext cx="3143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고속 / 코드 11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17" y="2144785"/>
            <a:ext cx="5805311" cy="276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6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6">
            <a:extLst>
              <a:ext uri="{FF2B5EF4-FFF2-40B4-BE49-F238E27FC236}">
                <a16:creationId xmlns:a16="http://schemas.microsoft.com/office/drawing/2014/main" id="{4E49E750-67EA-4D86-B006-344C877B66B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Source · buzzer_control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32" name="Google Shape;632;p16">
            <a:extLst>
              <a:ext uri="{FF2B5EF4-FFF2-40B4-BE49-F238E27FC236}">
                <a16:creationId xmlns:a16="http://schemas.microsoft.com/office/drawing/2014/main" id="{DE012942-2F00-4738-9693-B2C53D0E08AB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33" name="Google Shape;633;p16">
            <a:extLst>
              <a:ext uri="{FF2B5EF4-FFF2-40B4-BE49-F238E27FC236}">
                <a16:creationId xmlns:a16="http://schemas.microsoft.com/office/drawing/2014/main" id="{9BA8440F-0F72-4BC6-AB7B-6D1AB4C2C4AE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SOURCE / BUZZER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37" name="text-208">
            <a:extLst>
              <a:ext uri="{FF2B5EF4-FFF2-40B4-BE49-F238E27FC236}">
                <a16:creationId xmlns:a16="http://schemas.microsoft.com/office/drawing/2014/main" id="{8FCC513F-D20E-4440-A47C-1C4E28B5B78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명령을 내부 mode에 저장하여 1클록 요청만으로 멜로디 끝까지 재생</a:t>
            </a:r>
          </a:p>
        </p:txBody>
      </p:sp>
      <p:sp>
        <p:nvSpPr>
          <p:cNvPr id="638" name="line-209">
            <a:extLst>
              <a:ext uri="{FF2B5EF4-FFF2-40B4-BE49-F238E27FC236}">
                <a16:creationId xmlns:a16="http://schemas.microsoft.com/office/drawing/2014/main" id="{CDE96913-B519-4D33-8ED8-9226310643EE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639" name="box-210">
            <a:extLst>
              <a:ext uri="{FF2B5EF4-FFF2-40B4-BE49-F238E27FC236}">
                <a16:creationId xmlns:a16="http://schemas.microsoft.com/office/drawing/2014/main" id="{65780D12-99D9-4692-A27E-2E47F376997E}"/>
              </a:ext>
            </a:extLst>
          </p:cNvPr>
          <p:cNvSpPr>
            <a:spLocks noGrp="1"/>
          </p:cNvSpPr>
          <p:nvPr/>
        </p:nvSpPr>
        <p:spPr>
          <a:xfrm>
            <a:off x="495300" y="1509904"/>
            <a:ext cx="6991350" cy="5163946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graphicFrame>
        <p:nvGraphicFramePr>
          <p:cNvPr id="641" name="표 640">
            <a:extLst>
              <a:ext uri="{FF2B5EF4-FFF2-40B4-BE49-F238E27FC236}">
                <a16:creationId xmlns:a16="http://schemas.microsoft.com/office/drawing/2014/main" id="{8ED469B8-9A18-4D1A-BEB7-65336CC67B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235178"/>
              </p:ext>
            </p:extLst>
          </p:nvPr>
        </p:nvGraphicFramePr>
        <p:xfrm>
          <a:off x="7734300" y="2809730"/>
          <a:ext cx="3924300" cy="2952752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멜로디 / 길이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25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버튼，열기</a:t>
                      </a:r>
                      <a:r>
                        <a:rPr sz="1425" b="0" smtClean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4음 / 4 × 70 ms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닫기 4음 / 4 × 70 ms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0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anchor="ctr">
                    <a:lnL w="9525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C4 E4 G4 C5 G4 E4 D4 C4</a:t>
                      </a:r>
                    </a:p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113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 × 200 ms + 600 ms = 2초</a:t>
                      </a:r>
                    </a:p>
                  </a:txBody>
                  <a:tcPr anchor="ctr">
                    <a:lnL w="9525" cmpd="sng">
                      <a:solidFill>
                        <a:srgbClr val="BEC4BF"/>
                      </a:solidFill>
                      <a:prstDash val="solid"/>
                    </a:lnL>
                    <a:lnR w="9525">
                      <a:solidFill>
                        <a:srgbClr val="BEC4BF"/>
                      </a:solidFill>
                      <a:prstDash val="solid"/>
                    </a:lnR>
                    <a:lnT w="9525" cmpd="sng">
                      <a:solidFill>
                        <a:srgbClr val="BEC4BF"/>
                      </a:solidFill>
                      <a:prstDash val="solid"/>
                    </a:lnT>
                    <a:lnB w="9525">
                      <a:solidFill>
                        <a:srgbClr val="BEC4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2" name="text-212">
            <a:extLst>
              <a:ext uri="{FF2B5EF4-FFF2-40B4-BE49-F238E27FC236}">
                <a16:creationId xmlns:a16="http://schemas.microsoft.com/office/drawing/2014/main" id="{70234815-FBA6-408A-96A2-A2DBE40352DC}"/>
              </a:ext>
            </a:extLst>
          </p:cNvPr>
          <p:cNvSpPr>
            <a:spLocks noGrp="1"/>
          </p:cNvSpPr>
          <p:nvPr/>
        </p:nvSpPr>
        <p:spPr>
          <a:xfrm>
            <a:off x="8360981" y="6025375"/>
            <a:ext cx="2914777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같은 명령 재요청: 01 → 00 → 01. </a:t>
            </a:r>
            <a:endParaRPr lang="en-US" sz="1200" b="0" smtClean="0">
              <a:solidFill>
                <a:srgbClr val="747A7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  <a:def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smtClean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새로운 </a:t>
            </a:r>
            <a:r>
              <a:rPr sz="120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명령은 재생 중 멜로디를 선점.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50" y="1725707"/>
            <a:ext cx="5144218" cy="3238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07" y="1509905"/>
            <a:ext cx="5449060" cy="483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7">
            <a:extLst>
              <a:ext uri="{FF2B5EF4-FFF2-40B4-BE49-F238E27FC236}">
                <a16:creationId xmlns:a16="http://schemas.microsoft.com/office/drawing/2014/main" id="{78659D8F-378E-4FEC-9E4B-FCEE54A958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Source · main_fsm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80" name="Google Shape;680;p17">
            <a:extLst>
              <a:ext uri="{FF2B5EF4-FFF2-40B4-BE49-F238E27FC236}">
                <a16:creationId xmlns:a16="http://schemas.microsoft.com/office/drawing/2014/main" id="{6153ACBA-DA13-4A96-BF59-7A6108923608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81" name="Google Shape;681;p17">
            <a:extLst>
              <a:ext uri="{FF2B5EF4-FFF2-40B4-BE49-F238E27FC236}">
                <a16:creationId xmlns:a16="http://schemas.microsoft.com/office/drawing/2014/main" id="{0BBE7521-5625-41D9-AD2E-694803689836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SOURCE / FSM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85" name="text-213">
            <a:extLst>
              <a:ext uri="{FF2B5EF4-FFF2-40B4-BE49-F238E27FC236}">
                <a16:creationId xmlns:a16="http://schemas.microsoft.com/office/drawing/2014/main" id="{0991D836-C2A1-4412-A4B6-D3908E5447B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상태 전이와 출력의 우선순위를 일치시키고, 버튼 반복 실행을 방지</a:t>
            </a:r>
          </a:p>
        </p:txBody>
      </p:sp>
      <p:sp>
        <p:nvSpPr>
          <p:cNvPr id="686" name="line-214">
            <a:extLst>
              <a:ext uri="{FF2B5EF4-FFF2-40B4-BE49-F238E27FC236}">
                <a16:creationId xmlns:a16="http://schemas.microsoft.com/office/drawing/2014/main" id="{DFCEAEBB-FC2A-402A-A4E3-8094526D62AA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688" name="box-216">
            <a:extLst>
              <a:ext uri="{FF2B5EF4-FFF2-40B4-BE49-F238E27FC236}">
                <a16:creationId xmlns:a16="http://schemas.microsoft.com/office/drawing/2014/main" id="{60F3682B-49EE-46A5-84B5-0BFFBDE3C7F4}"/>
              </a:ext>
            </a:extLst>
          </p:cNvPr>
          <p:cNvSpPr>
            <a:spLocks noGrp="1"/>
          </p:cNvSpPr>
          <p:nvPr/>
        </p:nvSpPr>
        <p:spPr>
          <a:xfrm>
            <a:off x="495300" y="1514476"/>
            <a:ext cx="6324600" cy="5191124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690" name="text-218">
            <a:extLst>
              <a:ext uri="{FF2B5EF4-FFF2-40B4-BE49-F238E27FC236}">
                <a16:creationId xmlns:a16="http://schemas.microsoft.com/office/drawing/2014/main" id="{76204ACF-320D-4942-B7B4-8AE45E575D65}"/>
              </a:ext>
            </a:extLst>
          </p:cNvPr>
          <p:cNvSpPr>
            <a:spLocks noGrp="1"/>
          </p:cNvSpPr>
          <p:nvPr/>
        </p:nvSpPr>
        <p:spPr>
          <a:xfrm>
            <a:off x="7400925" y="1714500"/>
            <a:ext cx="41814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mtClean="0"/>
              <a:t>입력 상태에 따른 전이</a:t>
            </a:r>
            <a:endParaRPr sz="1800" b="1">
              <a:solidFill>
                <a:srgbClr val="55736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91" name="text-219">
            <a:extLst>
              <a:ext uri="{FF2B5EF4-FFF2-40B4-BE49-F238E27FC236}">
                <a16:creationId xmlns:a16="http://schemas.microsoft.com/office/drawing/2014/main" id="{F983DF07-37EC-45D2-9DFF-59CC34E44965}"/>
              </a:ext>
            </a:extLst>
          </p:cNvPr>
          <p:cNvSpPr>
            <a:spLocks noGrp="1"/>
          </p:cNvSpPr>
          <p:nvPr/>
        </p:nvSpPr>
        <p:spPr>
          <a:xfrm>
            <a:off x="7400925" y="2009775"/>
            <a:ext cx="4181475" cy="1116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b="1"/>
              <a:t>조리 시작</a:t>
            </a:r>
            <a:r>
              <a:rPr lang="en-US" altLang="ko-KR" b="1"/>
              <a:t>·</a:t>
            </a:r>
            <a:r>
              <a:rPr lang="ko-KR" altLang="en-US" b="1"/>
              <a:t>정지</a:t>
            </a:r>
            <a:r>
              <a:rPr lang="en-US" altLang="ko-KR" b="1"/>
              <a:t>·</a:t>
            </a:r>
            <a:r>
              <a:rPr lang="ko-KR" altLang="en-US" b="1"/>
              <a:t>재개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>시간 설정 후 </a:t>
            </a:r>
            <a:r>
              <a:rPr lang="en-US" altLang="ko-KR"/>
              <a:t>KEY</a:t>
            </a:r>
            <a:r>
              <a:rPr lang="ko-KR" altLang="en-US"/>
              <a:t>를 누르면 </a:t>
            </a:r>
            <a:r>
              <a:rPr lang="en-US" altLang="ko-KR"/>
              <a:t>RUN, </a:t>
            </a:r>
            <a:r>
              <a:rPr lang="ko-KR" altLang="en-US"/>
              <a:t>조리 중 다시 누르면 </a:t>
            </a:r>
            <a:r>
              <a:rPr lang="en-US" altLang="ko-KR"/>
              <a:t>PAUSE, </a:t>
            </a:r>
            <a:r>
              <a:rPr lang="ko-KR" altLang="en-US"/>
              <a:t>한 번 더 누르면 </a:t>
            </a:r>
            <a:r>
              <a:rPr lang="en-US" altLang="ko-KR"/>
              <a:t>RUN</a:t>
            </a:r>
            <a:r>
              <a:rPr lang="ko-KR" altLang="en-US"/>
              <a:t>으로 복귀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94" name="text-222">
            <a:extLst>
              <a:ext uri="{FF2B5EF4-FFF2-40B4-BE49-F238E27FC236}">
                <a16:creationId xmlns:a16="http://schemas.microsoft.com/office/drawing/2014/main" id="{85C87EF9-4B51-4932-A5D6-A2F966BE69E9}"/>
              </a:ext>
            </a:extLst>
          </p:cNvPr>
          <p:cNvSpPr>
            <a:spLocks noGrp="1"/>
          </p:cNvSpPr>
          <p:nvPr/>
        </p:nvSpPr>
        <p:spPr>
          <a:xfrm>
            <a:off x="7400922" y="4196556"/>
            <a:ext cx="41814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b="1"/>
              <a:t>문 열기</a:t>
            </a:r>
            <a:r>
              <a:rPr lang="en-US" altLang="ko-KR" b="1"/>
              <a:t>·</a:t>
            </a:r>
            <a:r>
              <a:rPr lang="ko-KR" altLang="en-US" b="1"/>
              <a:t>닫기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>문을 열면 </a:t>
            </a:r>
            <a:r>
              <a:rPr lang="en-US" altLang="ko-KR"/>
              <a:t>DOOR_OPEN</a:t>
            </a:r>
            <a:r>
              <a:rPr lang="ko-KR" altLang="en-US"/>
              <a:t>에서 조리를 멈추고</a:t>
            </a:r>
            <a:r>
              <a:rPr lang="en-US" altLang="ko-KR"/>
              <a:t>, </a:t>
            </a:r>
            <a:r>
              <a:rPr lang="ko-KR" altLang="en-US"/>
              <a:t>닫기 입력 후 </a:t>
            </a:r>
            <a:r>
              <a:rPr lang="en-US" altLang="ko-KR"/>
              <a:t>CLOSING</a:t>
            </a:r>
            <a:r>
              <a:rPr lang="ko-KR" altLang="en-US"/>
              <a:t>을 거쳐 </a:t>
            </a:r>
            <a:r>
              <a:rPr lang="en-US" altLang="ko-KR"/>
              <a:t>SET_TIME</a:t>
            </a:r>
            <a:r>
              <a:rPr lang="ko-KR" altLang="en-US"/>
              <a:t>으로 복귀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24" y="1640457"/>
            <a:ext cx="3419952" cy="4939161"/>
          </a:xfrm>
          <a:prstGeom prst="rect">
            <a:avLst/>
          </a:prstGeom>
        </p:spPr>
      </p:pic>
      <p:sp>
        <p:nvSpPr>
          <p:cNvPr id="14" name="text-222">
            <a:extLst>
              <a:ext uri="{FF2B5EF4-FFF2-40B4-BE49-F238E27FC236}">
                <a16:creationId xmlns:a16="http://schemas.microsoft.com/office/drawing/2014/main" id="{85C87EF9-4B51-4932-A5D6-A2F966BE69E9}"/>
              </a:ext>
            </a:extLst>
          </p:cNvPr>
          <p:cNvSpPr>
            <a:spLocks noGrp="1"/>
          </p:cNvSpPr>
          <p:nvPr/>
        </p:nvSpPr>
        <p:spPr>
          <a:xfrm>
            <a:off x="7400923" y="5381625"/>
            <a:ext cx="41814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b="1"/>
              <a:t>리셋</a:t>
            </a:r>
            <a:r>
              <a:rPr lang="en-US" altLang="ko-KR" b="1"/>
              <a:t>·</a:t>
            </a:r>
            <a:r>
              <a:rPr lang="ko-KR" altLang="en-US" b="1"/>
              <a:t>취소 우선 처리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>시간을 초기화하고 </a:t>
            </a:r>
            <a:r>
              <a:rPr lang="en-US" altLang="ko-KR"/>
              <a:t>CLOSING</a:t>
            </a:r>
            <a:r>
              <a:rPr lang="ko-KR" altLang="en-US"/>
              <a:t>으로 전환</a:t>
            </a:r>
            <a:br>
              <a:rPr lang="ko-KR" altLang="en-US"/>
            </a:br>
            <a:r>
              <a:rPr lang="ko-KR" altLang="en-US"/>
              <a:t>처리 우선순위</a:t>
            </a:r>
            <a:r>
              <a:rPr lang="en-US" altLang="ko-KR"/>
              <a:t>: </a:t>
            </a:r>
            <a:r>
              <a:rPr lang="ko-KR" altLang="en-US"/>
              <a:t>리셋 </a:t>
            </a:r>
            <a:r>
              <a:rPr lang="en-US" altLang="ko-KR"/>
              <a:t>&gt; </a:t>
            </a:r>
            <a:r>
              <a:rPr lang="ko-KR" altLang="en-US"/>
              <a:t>취소 </a:t>
            </a:r>
            <a:r>
              <a:rPr lang="en-US" altLang="ko-KR"/>
              <a:t>&gt; </a:t>
            </a:r>
            <a:r>
              <a:rPr lang="ko-KR" altLang="en-US"/>
              <a:t>문 열기 </a:t>
            </a:r>
            <a:r>
              <a:rPr lang="en-US" altLang="ko-KR"/>
              <a:t>&gt; </a:t>
            </a:r>
            <a:r>
              <a:rPr lang="ko-KR" altLang="en-US"/>
              <a:t>상태별 조건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text-219">
            <a:extLst>
              <a:ext uri="{FF2B5EF4-FFF2-40B4-BE49-F238E27FC236}">
                <a16:creationId xmlns:a16="http://schemas.microsoft.com/office/drawing/2014/main" id="{F983DF07-37EC-45D2-9DFF-59CC34E44965}"/>
              </a:ext>
            </a:extLst>
          </p:cNvPr>
          <p:cNvSpPr>
            <a:spLocks noGrp="1"/>
          </p:cNvSpPr>
          <p:nvPr/>
        </p:nvSpPr>
        <p:spPr>
          <a:xfrm>
            <a:off x="7400921" y="3231955"/>
            <a:ext cx="4181475" cy="8465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b="1"/>
              <a:t>시간 종료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>남은 시간이 </a:t>
            </a:r>
            <a:r>
              <a:rPr lang="en-US" altLang="ko-KR"/>
              <a:t>0</a:t>
            </a:r>
            <a:r>
              <a:rPr lang="ko-KR" altLang="en-US"/>
              <a:t>이면 </a:t>
            </a:r>
            <a:r>
              <a:rPr lang="en-US" altLang="ko-KR"/>
              <a:t>DONE</a:t>
            </a:r>
            <a:r>
              <a:rPr lang="ko-KR" altLang="en-US"/>
              <a:t>으로 전환하고</a:t>
            </a:r>
            <a:r>
              <a:rPr lang="en-US" altLang="ko-KR"/>
              <a:t>, </a:t>
            </a:r>
            <a:r>
              <a:rPr lang="ko-KR" altLang="en-US"/>
              <a:t>종료 알림 후 </a:t>
            </a:r>
            <a:r>
              <a:rPr lang="en-US" altLang="ko-KR"/>
              <a:t>SET_TIME</a:t>
            </a:r>
            <a:r>
              <a:rPr lang="ko-KR" altLang="en-US"/>
              <a:t>으로 복귀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7309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ox-216">
            <a:extLst>
              <a:ext uri="{FF2B5EF4-FFF2-40B4-BE49-F238E27FC236}">
                <a16:creationId xmlns:a16="http://schemas.microsoft.com/office/drawing/2014/main" id="{60F3682B-49EE-46A5-84B5-0BFFBDE3C7F4}"/>
              </a:ext>
            </a:extLst>
          </p:cNvPr>
          <p:cNvSpPr>
            <a:spLocks noGrp="1"/>
          </p:cNvSpPr>
          <p:nvPr/>
        </p:nvSpPr>
        <p:spPr>
          <a:xfrm>
            <a:off x="247650" y="1049274"/>
            <a:ext cx="11544300" cy="5580126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735" name="Google Shape;735;p18">
            <a:extLst>
              <a:ext uri="{FF2B5EF4-FFF2-40B4-BE49-F238E27FC236}">
                <a16:creationId xmlns:a16="http://schemas.microsoft.com/office/drawing/2014/main" id="{5E99F7D0-D6B5-44A9-AEAA-38E8E72D4D7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Test </a:t>
            </a: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Bench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36" name="Google Shape;736;p18">
            <a:extLst>
              <a:ext uri="{FF2B5EF4-FFF2-40B4-BE49-F238E27FC236}">
                <a16:creationId xmlns:a16="http://schemas.microsoft.com/office/drawing/2014/main" id="{F624AD9F-A551-4A7E-93F4-547F5EB5D3E3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37" name="Google Shape;737;p18">
            <a:extLst>
              <a:ext uri="{FF2B5EF4-FFF2-40B4-BE49-F238E27FC236}">
                <a16:creationId xmlns:a16="http://schemas.microsoft.com/office/drawing/2014/main" id="{F3B9941F-C121-4EEB-B7FE-443841CEA702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VERIFICATION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28" y="1710202"/>
            <a:ext cx="5563376" cy="425826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010" y="1919781"/>
            <a:ext cx="4353533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3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그림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948" y="983402"/>
            <a:ext cx="12292648" cy="3968665"/>
          </a:xfrm>
          <a:prstGeom prst="rect">
            <a:avLst/>
          </a:prstGeom>
        </p:spPr>
      </p:pic>
      <p:sp>
        <p:nvSpPr>
          <p:cNvPr id="735" name="Google Shape;735;p18">
            <a:extLst>
              <a:ext uri="{FF2B5EF4-FFF2-40B4-BE49-F238E27FC236}">
                <a16:creationId xmlns:a16="http://schemas.microsoft.com/office/drawing/2014/main" id="{5E99F7D0-D6B5-44A9-AEAA-38E8E72D4D7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Test </a:t>
            </a: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Bench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36" name="Google Shape;736;p18">
            <a:extLst>
              <a:ext uri="{FF2B5EF4-FFF2-40B4-BE49-F238E27FC236}">
                <a16:creationId xmlns:a16="http://schemas.microsoft.com/office/drawing/2014/main" id="{F624AD9F-A551-4A7E-93F4-547F5EB5D3E3}"/>
              </a:ext>
            </a:extLst>
          </p:cNvPr>
          <p:cNvSpPr>
            <a:spLocks noGrp="1"/>
          </p:cNvSpPr>
          <p:nvPr/>
        </p:nvSpPr>
        <p:spPr>
          <a:xfrm>
            <a:off x="4681728" y="649224"/>
            <a:ext cx="6894576" cy="14264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37" name="Google Shape;737;p18">
            <a:extLst>
              <a:ext uri="{FF2B5EF4-FFF2-40B4-BE49-F238E27FC236}">
                <a16:creationId xmlns:a16="http://schemas.microsoft.com/office/drawing/2014/main" id="{F3B9941F-C121-4EEB-B7FE-443841CEA702}"/>
              </a:ext>
            </a:extLst>
          </p:cNvPr>
          <p:cNvSpPr>
            <a:spLocks noGrp="1"/>
          </p:cNvSpPr>
          <p:nvPr/>
        </p:nvSpPr>
        <p:spPr>
          <a:xfrm>
            <a:off x="9528048" y="420624"/>
            <a:ext cx="20574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VERIFICATION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입력 시나리오 단계 1">
            <a:extLst>
              <a:ext uri="{FF2B5EF4-FFF2-40B4-BE49-F238E27FC236}">
                <a16:creationId xmlns:a16="http://schemas.microsoft.com/office/drawing/2014/main" id="{AA9D2BF3-E7DA-40FD-B763-F2D399EF66CB}"/>
              </a:ext>
            </a:extLst>
          </p:cNvPr>
          <p:cNvSpPr>
            <a:spLocks noGrp="1"/>
          </p:cNvSpPr>
          <p:nvPr/>
        </p:nvSpPr>
        <p:spPr>
          <a:xfrm>
            <a:off x="304800" y="4991100"/>
            <a:ext cx="1838325" cy="723900"/>
          </a:xfrm>
          <a:prstGeom prst="rect">
            <a:avLst/>
          </a:prstGeom>
          <a:solidFill>
            <a:srgbClr val="F0F5EC"/>
          </a:solidFill>
          <a:ln w="11430">
            <a:solidFill>
              <a:srgbClr val="A7B6AA"/>
            </a:solidFill>
          </a:ln>
        </p:spPr>
      </p:sp>
      <p:sp>
        <p:nvSpPr>
          <p:cNvPr id="7" name="단계 1 제목">
            <a:extLst>
              <a:ext uri="{FF2B5EF4-FFF2-40B4-BE49-F238E27FC236}">
                <a16:creationId xmlns:a16="http://schemas.microsoft.com/office/drawing/2014/main" id="{A324AA88-CB48-45FE-B7F1-72249885EAF2}"/>
              </a:ext>
            </a:extLst>
          </p:cNvPr>
          <p:cNvSpPr>
            <a:spLocks noGrp="1"/>
          </p:cNvSpPr>
          <p:nvPr/>
        </p:nvSpPr>
        <p:spPr>
          <a:xfrm>
            <a:off x="361950" y="5057775"/>
            <a:ext cx="17240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초기화·시간 설정</a:t>
            </a:r>
          </a:p>
        </p:txBody>
      </p:sp>
      <p:sp>
        <p:nvSpPr>
          <p:cNvPr id="8" name="단계 1 예상 동작">
            <a:extLst>
              <a:ext uri="{FF2B5EF4-FFF2-40B4-BE49-F238E27FC236}">
                <a16:creationId xmlns:a16="http://schemas.microsoft.com/office/drawing/2014/main" id="{1E1976CD-D70D-4DF8-BB4B-66C857E0A42C}"/>
              </a:ext>
            </a:extLst>
          </p:cNvPr>
          <p:cNvSpPr>
            <a:spLocks noGrp="1"/>
          </p:cNvSpPr>
          <p:nvPr/>
        </p:nvSpPr>
        <p:spPr>
          <a:xfrm>
            <a:off x="361950" y="5334000"/>
            <a:ext cx="1724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CLOSING 후 SET_TIME</a:t>
            </a:r>
          </a:p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로터리 10칸: 10초</a:t>
            </a:r>
          </a:p>
        </p:txBody>
      </p:sp>
      <p:sp>
        <p:nvSpPr>
          <p:cNvPr id="9" name="다음 입력 단계 연결선">
            <a:extLst>
              <a:ext uri="{FF2B5EF4-FFF2-40B4-BE49-F238E27FC236}">
                <a16:creationId xmlns:a16="http://schemas.microsoft.com/office/drawing/2014/main" id="{FD2BE6AF-11C3-41A4-A704-B7937DCD9EC5}"/>
              </a:ext>
            </a:extLst>
          </p:cNvPr>
          <p:cNvSpPr>
            <a:spLocks noGrp="1"/>
          </p:cNvSpPr>
          <p:nvPr/>
        </p:nvSpPr>
        <p:spPr>
          <a:xfrm>
            <a:off x="2171700" y="5353050"/>
            <a:ext cx="85725" cy="0"/>
          </a:xfrm>
          <a:prstGeom prst="line">
            <a:avLst/>
          </a:prstGeom>
          <a:noFill/>
          <a:ln w="16193">
            <a:solidFill>
              <a:srgbClr val="557363"/>
            </a:solidFill>
          </a:ln>
        </p:spPr>
      </p:sp>
      <p:sp>
        <p:nvSpPr>
          <p:cNvPr id="10" name="입력 진행 방향">
            <a:extLst>
              <a:ext uri="{FF2B5EF4-FFF2-40B4-BE49-F238E27FC236}">
                <a16:creationId xmlns:a16="http://schemas.microsoft.com/office/drawing/2014/main" id="{5A4DA975-202B-4CD5-B774-9ED9E81293C7}"/>
              </a:ext>
            </a:extLst>
          </p:cNvPr>
          <p:cNvSpPr>
            <a:spLocks noGrp="1"/>
          </p:cNvSpPr>
          <p:nvPr/>
        </p:nvSpPr>
        <p:spPr>
          <a:xfrm rot="5400000">
            <a:off x="2228850" y="5314950"/>
            <a:ext cx="76200" cy="7620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</p:sp>
      <p:sp>
        <p:nvSpPr>
          <p:cNvPr id="11" name="입력 시나리오 단계 2">
            <a:extLst>
              <a:ext uri="{FF2B5EF4-FFF2-40B4-BE49-F238E27FC236}">
                <a16:creationId xmlns:a16="http://schemas.microsoft.com/office/drawing/2014/main" id="{2816F798-6384-499E-9D1B-8BD73EDA58A9}"/>
              </a:ext>
            </a:extLst>
          </p:cNvPr>
          <p:cNvSpPr>
            <a:spLocks noGrp="1"/>
          </p:cNvSpPr>
          <p:nvPr/>
        </p:nvSpPr>
        <p:spPr>
          <a:xfrm>
            <a:off x="2333625" y="4991100"/>
            <a:ext cx="1647825" cy="723900"/>
          </a:xfrm>
          <a:prstGeom prst="rect">
            <a:avLst/>
          </a:prstGeom>
          <a:solidFill>
            <a:srgbClr val="F0F5EC"/>
          </a:solidFill>
          <a:ln w="11430">
            <a:solidFill>
              <a:srgbClr val="A7B6AA"/>
            </a:solidFill>
          </a:ln>
        </p:spPr>
      </p:sp>
      <p:sp>
        <p:nvSpPr>
          <p:cNvPr id="12" name="단계 2 제목">
            <a:extLst>
              <a:ext uri="{FF2B5EF4-FFF2-40B4-BE49-F238E27FC236}">
                <a16:creationId xmlns:a16="http://schemas.microsoft.com/office/drawing/2014/main" id="{778DBBCC-266B-40DC-86F8-E5A4D7AB8AC5}"/>
              </a:ext>
            </a:extLst>
          </p:cNvPr>
          <p:cNvSpPr>
            <a:spLocks noGrp="1"/>
          </p:cNvSpPr>
          <p:nvPr/>
        </p:nvSpPr>
        <p:spPr>
          <a:xfrm>
            <a:off x="2390775" y="5057775"/>
            <a:ext cx="1533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조리 시작</a:t>
            </a:r>
          </a:p>
        </p:txBody>
      </p:sp>
      <p:sp>
        <p:nvSpPr>
          <p:cNvPr id="13" name="단계 2 예상 동작">
            <a:extLst>
              <a:ext uri="{FF2B5EF4-FFF2-40B4-BE49-F238E27FC236}">
                <a16:creationId xmlns:a16="http://schemas.microsoft.com/office/drawing/2014/main" id="{82456B44-AC7D-457E-AD1B-16C4A8E6AB16}"/>
              </a:ext>
            </a:extLst>
          </p:cNvPr>
          <p:cNvSpPr>
            <a:spLocks noGrp="1"/>
          </p:cNvSpPr>
          <p:nvPr/>
        </p:nvSpPr>
        <p:spPr>
          <a:xfrm>
            <a:off x="2390775" y="5334000"/>
            <a:ext cx="1533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KEY 입력</a:t>
            </a:r>
          </a:p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RUN 3초</a:t>
            </a:r>
          </a:p>
        </p:txBody>
      </p:sp>
      <p:sp>
        <p:nvSpPr>
          <p:cNvPr id="14" name="다음 입력 단계 연결선">
            <a:extLst>
              <a:ext uri="{FF2B5EF4-FFF2-40B4-BE49-F238E27FC236}">
                <a16:creationId xmlns:a16="http://schemas.microsoft.com/office/drawing/2014/main" id="{FB804268-49C3-4B19-AABD-68C1C601FF0B}"/>
              </a:ext>
            </a:extLst>
          </p:cNvPr>
          <p:cNvSpPr>
            <a:spLocks noGrp="1"/>
          </p:cNvSpPr>
          <p:nvPr/>
        </p:nvSpPr>
        <p:spPr>
          <a:xfrm>
            <a:off x="4010025" y="5353050"/>
            <a:ext cx="85725" cy="0"/>
          </a:xfrm>
          <a:prstGeom prst="line">
            <a:avLst/>
          </a:prstGeom>
          <a:noFill/>
          <a:ln w="16193">
            <a:solidFill>
              <a:srgbClr val="557363"/>
            </a:solidFill>
          </a:ln>
        </p:spPr>
      </p:sp>
      <p:sp>
        <p:nvSpPr>
          <p:cNvPr id="15" name="입력 진행 방향">
            <a:extLst>
              <a:ext uri="{FF2B5EF4-FFF2-40B4-BE49-F238E27FC236}">
                <a16:creationId xmlns:a16="http://schemas.microsoft.com/office/drawing/2014/main" id="{132B4274-6136-417E-B8A9-AF66DE9F0F35}"/>
              </a:ext>
            </a:extLst>
          </p:cNvPr>
          <p:cNvSpPr>
            <a:spLocks noGrp="1"/>
          </p:cNvSpPr>
          <p:nvPr/>
        </p:nvSpPr>
        <p:spPr>
          <a:xfrm rot="5400000">
            <a:off x="4067175" y="5314950"/>
            <a:ext cx="76200" cy="7620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</p:sp>
      <p:sp>
        <p:nvSpPr>
          <p:cNvPr id="16" name="입력 시나리오 단계 3">
            <a:extLst>
              <a:ext uri="{FF2B5EF4-FFF2-40B4-BE49-F238E27FC236}">
                <a16:creationId xmlns:a16="http://schemas.microsoft.com/office/drawing/2014/main" id="{9EA088BE-4772-4D77-A01C-67BB06E139E4}"/>
              </a:ext>
            </a:extLst>
          </p:cNvPr>
          <p:cNvSpPr>
            <a:spLocks noGrp="1"/>
          </p:cNvSpPr>
          <p:nvPr/>
        </p:nvSpPr>
        <p:spPr>
          <a:xfrm>
            <a:off x="4171950" y="4991100"/>
            <a:ext cx="1647825" cy="723900"/>
          </a:xfrm>
          <a:prstGeom prst="rect">
            <a:avLst/>
          </a:prstGeom>
          <a:solidFill>
            <a:srgbClr val="F0F5EC"/>
          </a:solidFill>
          <a:ln w="11430">
            <a:solidFill>
              <a:srgbClr val="A7B6AA"/>
            </a:solidFill>
          </a:ln>
        </p:spPr>
      </p:sp>
      <p:sp>
        <p:nvSpPr>
          <p:cNvPr id="17" name="단계 3 제목">
            <a:extLst>
              <a:ext uri="{FF2B5EF4-FFF2-40B4-BE49-F238E27FC236}">
                <a16:creationId xmlns:a16="http://schemas.microsoft.com/office/drawing/2014/main" id="{107E3051-A4A5-4FD3-BC76-119DF0C49CB7}"/>
              </a:ext>
            </a:extLst>
          </p:cNvPr>
          <p:cNvSpPr>
            <a:spLocks noGrp="1"/>
          </p:cNvSpPr>
          <p:nvPr/>
        </p:nvSpPr>
        <p:spPr>
          <a:xfrm>
            <a:off x="4229100" y="5057775"/>
            <a:ext cx="1533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일시정지</a:t>
            </a:r>
          </a:p>
        </p:txBody>
      </p:sp>
      <p:sp>
        <p:nvSpPr>
          <p:cNvPr id="18" name="단계 3 예상 동작">
            <a:extLst>
              <a:ext uri="{FF2B5EF4-FFF2-40B4-BE49-F238E27FC236}">
                <a16:creationId xmlns:a16="http://schemas.microsoft.com/office/drawing/2014/main" id="{F731B183-386C-4D4E-8994-678BC2F3D37E}"/>
              </a:ext>
            </a:extLst>
          </p:cNvPr>
          <p:cNvSpPr>
            <a:spLocks noGrp="1"/>
          </p:cNvSpPr>
          <p:nvPr/>
        </p:nvSpPr>
        <p:spPr>
          <a:xfrm>
            <a:off x="4229100" y="5334000"/>
            <a:ext cx="1533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KEY 입력</a:t>
            </a:r>
          </a:p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PAUSE 1초</a:t>
            </a:r>
          </a:p>
        </p:txBody>
      </p:sp>
      <p:sp>
        <p:nvSpPr>
          <p:cNvPr id="19" name="다음 입력 단계 연결선">
            <a:extLst>
              <a:ext uri="{FF2B5EF4-FFF2-40B4-BE49-F238E27FC236}">
                <a16:creationId xmlns:a16="http://schemas.microsoft.com/office/drawing/2014/main" id="{F351BFFC-363E-4E5D-8EE3-F9F3348E9746}"/>
              </a:ext>
            </a:extLst>
          </p:cNvPr>
          <p:cNvSpPr>
            <a:spLocks noGrp="1"/>
          </p:cNvSpPr>
          <p:nvPr/>
        </p:nvSpPr>
        <p:spPr>
          <a:xfrm>
            <a:off x="5848350" y="5353050"/>
            <a:ext cx="85725" cy="0"/>
          </a:xfrm>
          <a:prstGeom prst="line">
            <a:avLst/>
          </a:prstGeom>
          <a:noFill/>
          <a:ln w="16193">
            <a:solidFill>
              <a:srgbClr val="557363"/>
            </a:solidFill>
          </a:ln>
        </p:spPr>
      </p:sp>
      <p:sp>
        <p:nvSpPr>
          <p:cNvPr id="20" name="입력 진행 방향">
            <a:extLst>
              <a:ext uri="{FF2B5EF4-FFF2-40B4-BE49-F238E27FC236}">
                <a16:creationId xmlns:a16="http://schemas.microsoft.com/office/drawing/2014/main" id="{E70C4011-B89C-4666-9F96-C520DD8C4B5F}"/>
              </a:ext>
            </a:extLst>
          </p:cNvPr>
          <p:cNvSpPr>
            <a:spLocks noGrp="1"/>
          </p:cNvSpPr>
          <p:nvPr/>
        </p:nvSpPr>
        <p:spPr>
          <a:xfrm rot="5400000">
            <a:off x="5905500" y="5314950"/>
            <a:ext cx="76200" cy="7620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</p:sp>
      <p:sp>
        <p:nvSpPr>
          <p:cNvPr id="21" name="입력 시나리오 단계 4">
            <a:extLst>
              <a:ext uri="{FF2B5EF4-FFF2-40B4-BE49-F238E27FC236}">
                <a16:creationId xmlns:a16="http://schemas.microsoft.com/office/drawing/2014/main" id="{E7EBEBEC-8D6E-4AB9-BDB2-A57BF1CC453C}"/>
              </a:ext>
            </a:extLst>
          </p:cNvPr>
          <p:cNvSpPr>
            <a:spLocks noGrp="1"/>
          </p:cNvSpPr>
          <p:nvPr/>
        </p:nvSpPr>
        <p:spPr>
          <a:xfrm>
            <a:off x="6010275" y="4991100"/>
            <a:ext cx="1647825" cy="723900"/>
          </a:xfrm>
          <a:prstGeom prst="rect">
            <a:avLst/>
          </a:prstGeom>
          <a:solidFill>
            <a:srgbClr val="F0F5EC"/>
          </a:solidFill>
          <a:ln w="11430">
            <a:solidFill>
              <a:srgbClr val="A7B6AA"/>
            </a:solidFill>
          </a:ln>
        </p:spPr>
      </p:sp>
      <p:sp>
        <p:nvSpPr>
          <p:cNvPr id="22" name="단계 4 제목">
            <a:extLst>
              <a:ext uri="{FF2B5EF4-FFF2-40B4-BE49-F238E27FC236}">
                <a16:creationId xmlns:a16="http://schemas.microsoft.com/office/drawing/2014/main" id="{DCFFAF34-27AC-498E-9EA0-A9DA5612320A}"/>
              </a:ext>
            </a:extLst>
          </p:cNvPr>
          <p:cNvSpPr>
            <a:spLocks noGrp="1"/>
          </p:cNvSpPr>
          <p:nvPr/>
        </p:nvSpPr>
        <p:spPr>
          <a:xfrm>
            <a:off x="6067425" y="5057775"/>
            <a:ext cx="1533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조리 재개</a:t>
            </a:r>
          </a:p>
        </p:txBody>
      </p:sp>
      <p:sp>
        <p:nvSpPr>
          <p:cNvPr id="23" name="단계 4 예상 동작">
            <a:extLst>
              <a:ext uri="{FF2B5EF4-FFF2-40B4-BE49-F238E27FC236}">
                <a16:creationId xmlns:a16="http://schemas.microsoft.com/office/drawing/2014/main" id="{FC0B4388-4C59-40D8-91D7-3781DD83692A}"/>
              </a:ext>
            </a:extLst>
          </p:cNvPr>
          <p:cNvSpPr>
            <a:spLocks noGrp="1"/>
          </p:cNvSpPr>
          <p:nvPr/>
        </p:nvSpPr>
        <p:spPr>
          <a:xfrm>
            <a:off x="6067425" y="5334000"/>
            <a:ext cx="1533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KEY 입력</a:t>
            </a:r>
          </a:p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RUN 7초</a:t>
            </a:r>
          </a:p>
        </p:txBody>
      </p:sp>
      <p:sp>
        <p:nvSpPr>
          <p:cNvPr id="24" name="다음 입력 단계 연결선">
            <a:extLst>
              <a:ext uri="{FF2B5EF4-FFF2-40B4-BE49-F238E27FC236}">
                <a16:creationId xmlns:a16="http://schemas.microsoft.com/office/drawing/2014/main" id="{31FFB6A2-D17D-4F96-A03C-D719D0F0C469}"/>
              </a:ext>
            </a:extLst>
          </p:cNvPr>
          <p:cNvSpPr>
            <a:spLocks noGrp="1"/>
          </p:cNvSpPr>
          <p:nvPr/>
        </p:nvSpPr>
        <p:spPr>
          <a:xfrm>
            <a:off x="7686675" y="5353050"/>
            <a:ext cx="85725" cy="0"/>
          </a:xfrm>
          <a:prstGeom prst="line">
            <a:avLst/>
          </a:prstGeom>
          <a:noFill/>
          <a:ln w="16193">
            <a:solidFill>
              <a:srgbClr val="557363"/>
            </a:solidFill>
          </a:ln>
        </p:spPr>
      </p:sp>
      <p:sp>
        <p:nvSpPr>
          <p:cNvPr id="25" name="입력 진행 방향">
            <a:extLst>
              <a:ext uri="{FF2B5EF4-FFF2-40B4-BE49-F238E27FC236}">
                <a16:creationId xmlns:a16="http://schemas.microsoft.com/office/drawing/2014/main" id="{07D9CB54-1CD9-44D7-9E2F-C5A93B4EF5B0}"/>
              </a:ext>
            </a:extLst>
          </p:cNvPr>
          <p:cNvSpPr>
            <a:spLocks noGrp="1"/>
          </p:cNvSpPr>
          <p:nvPr/>
        </p:nvSpPr>
        <p:spPr>
          <a:xfrm rot="5400000">
            <a:off x="7743825" y="5314950"/>
            <a:ext cx="76200" cy="7620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</p:sp>
      <p:sp>
        <p:nvSpPr>
          <p:cNvPr id="26" name="입력 시나리오 단계 5">
            <a:extLst>
              <a:ext uri="{FF2B5EF4-FFF2-40B4-BE49-F238E27FC236}">
                <a16:creationId xmlns:a16="http://schemas.microsoft.com/office/drawing/2014/main" id="{8B1F1946-B057-4912-885A-64A692032E36}"/>
              </a:ext>
            </a:extLst>
          </p:cNvPr>
          <p:cNvSpPr>
            <a:spLocks noGrp="1"/>
          </p:cNvSpPr>
          <p:nvPr/>
        </p:nvSpPr>
        <p:spPr>
          <a:xfrm>
            <a:off x="7848600" y="4991100"/>
            <a:ext cx="1647825" cy="723900"/>
          </a:xfrm>
          <a:prstGeom prst="rect">
            <a:avLst/>
          </a:prstGeom>
          <a:solidFill>
            <a:srgbClr val="F0F5EC"/>
          </a:solidFill>
          <a:ln w="11430">
            <a:solidFill>
              <a:srgbClr val="A7B6AA"/>
            </a:solidFill>
          </a:ln>
        </p:spPr>
      </p:sp>
      <p:sp>
        <p:nvSpPr>
          <p:cNvPr id="27" name="단계 5 제목">
            <a:extLst>
              <a:ext uri="{FF2B5EF4-FFF2-40B4-BE49-F238E27FC236}">
                <a16:creationId xmlns:a16="http://schemas.microsoft.com/office/drawing/2014/main" id="{85A44830-B02D-4DDD-B343-7E647184F1C1}"/>
              </a:ext>
            </a:extLst>
          </p:cNvPr>
          <p:cNvSpPr>
            <a:spLocks noGrp="1"/>
          </p:cNvSpPr>
          <p:nvPr/>
        </p:nvSpPr>
        <p:spPr>
          <a:xfrm>
            <a:off x="7905750" y="5057775"/>
            <a:ext cx="1533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종료 알림</a:t>
            </a:r>
          </a:p>
        </p:txBody>
      </p:sp>
      <p:sp>
        <p:nvSpPr>
          <p:cNvPr id="28" name="단계 5 예상 동작">
            <a:extLst>
              <a:ext uri="{FF2B5EF4-FFF2-40B4-BE49-F238E27FC236}">
                <a16:creationId xmlns:a16="http://schemas.microsoft.com/office/drawing/2014/main" id="{D8FFF38A-ED90-4340-B65C-0489C496BD34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1533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DONE 3초</a:t>
            </a:r>
          </a:p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SET_TIME 복귀</a:t>
            </a:r>
          </a:p>
        </p:txBody>
      </p:sp>
      <p:sp>
        <p:nvSpPr>
          <p:cNvPr id="29" name="다음 입력 단계 연결선">
            <a:extLst>
              <a:ext uri="{FF2B5EF4-FFF2-40B4-BE49-F238E27FC236}">
                <a16:creationId xmlns:a16="http://schemas.microsoft.com/office/drawing/2014/main" id="{FDE211A1-94DC-46AF-BF10-454C27FF2FF9}"/>
              </a:ext>
            </a:extLst>
          </p:cNvPr>
          <p:cNvSpPr>
            <a:spLocks noGrp="1"/>
          </p:cNvSpPr>
          <p:nvPr/>
        </p:nvSpPr>
        <p:spPr>
          <a:xfrm>
            <a:off x="9525000" y="5353050"/>
            <a:ext cx="85725" cy="0"/>
          </a:xfrm>
          <a:prstGeom prst="line">
            <a:avLst/>
          </a:prstGeom>
          <a:noFill/>
          <a:ln w="16193">
            <a:solidFill>
              <a:srgbClr val="557363"/>
            </a:solidFill>
          </a:ln>
        </p:spPr>
      </p:sp>
      <p:sp>
        <p:nvSpPr>
          <p:cNvPr id="30" name="입력 진행 방향">
            <a:extLst>
              <a:ext uri="{FF2B5EF4-FFF2-40B4-BE49-F238E27FC236}">
                <a16:creationId xmlns:a16="http://schemas.microsoft.com/office/drawing/2014/main" id="{86701DD1-6DEE-4EFE-A48A-A344CE3D95BE}"/>
              </a:ext>
            </a:extLst>
          </p:cNvPr>
          <p:cNvSpPr>
            <a:spLocks noGrp="1"/>
          </p:cNvSpPr>
          <p:nvPr/>
        </p:nvSpPr>
        <p:spPr>
          <a:xfrm rot="5400000">
            <a:off x="9582150" y="5314950"/>
            <a:ext cx="76200" cy="76200"/>
          </a:xfrm>
          <a:prstGeom prst="triangle">
            <a:avLst/>
          </a:prstGeom>
          <a:solidFill>
            <a:srgbClr val="557363"/>
          </a:solidFill>
          <a:ln w="0">
            <a:solidFill>
              <a:srgbClr val="557363"/>
            </a:solidFill>
          </a:ln>
        </p:spPr>
      </p:sp>
      <p:sp>
        <p:nvSpPr>
          <p:cNvPr id="31" name="입력 시나리오 단계 6">
            <a:extLst>
              <a:ext uri="{FF2B5EF4-FFF2-40B4-BE49-F238E27FC236}">
                <a16:creationId xmlns:a16="http://schemas.microsoft.com/office/drawing/2014/main" id="{26C25523-C07B-451C-92D3-ECC071C7F0B0}"/>
              </a:ext>
            </a:extLst>
          </p:cNvPr>
          <p:cNvSpPr>
            <a:spLocks noGrp="1"/>
          </p:cNvSpPr>
          <p:nvPr/>
        </p:nvSpPr>
        <p:spPr>
          <a:xfrm>
            <a:off x="9686925" y="4991100"/>
            <a:ext cx="2200275" cy="723900"/>
          </a:xfrm>
          <a:prstGeom prst="rect">
            <a:avLst/>
          </a:prstGeom>
          <a:solidFill>
            <a:srgbClr val="F0F5EC"/>
          </a:solidFill>
          <a:ln w="11430">
            <a:solidFill>
              <a:srgbClr val="A7B6AA"/>
            </a:solidFill>
          </a:ln>
        </p:spPr>
      </p:sp>
      <p:sp>
        <p:nvSpPr>
          <p:cNvPr id="32" name="단계 6 제목">
            <a:extLst>
              <a:ext uri="{FF2B5EF4-FFF2-40B4-BE49-F238E27FC236}">
                <a16:creationId xmlns:a16="http://schemas.microsoft.com/office/drawing/2014/main" id="{27F5A5EB-0BDD-4AA3-A7DC-7ACBE992143E}"/>
              </a:ext>
            </a:extLst>
          </p:cNvPr>
          <p:cNvSpPr>
            <a:spLocks noGrp="1"/>
          </p:cNvSpPr>
          <p:nvPr/>
        </p:nvSpPr>
        <p:spPr>
          <a:xfrm>
            <a:off x="9744075" y="5057775"/>
            <a:ext cx="20859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문 열기·닫기</a:t>
            </a:r>
          </a:p>
        </p:txBody>
      </p:sp>
      <p:sp>
        <p:nvSpPr>
          <p:cNvPr id="33" name="단계 6 예상 동작">
            <a:extLst>
              <a:ext uri="{FF2B5EF4-FFF2-40B4-BE49-F238E27FC236}">
                <a16:creationId xmlns:a16="http://schemas.microsoft.com/office/drawing/2014/main" id="{C0AC7229-1262-4B0E-8A3B-371077B515F1}"/>
              </a:ext>
            </a:extLst>
          </p:cNvPr>
          <p:cNvSpPr>
            <a:spLocks noGrp="1"/>
          </p:cNvSpPr>
          <p:nvPr/>
        </p:nvSpPr>
        <p:spPr>
          <a:xfrm>
            <a:off x="9744075" y="53340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DOOR_OPEN 1초</a:t>
            </a:r>
          </a:p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CLOSING 후 SET_TIME</a:t>
            </a:r>
          </a:p>
        </p:txBody>
      </p:sp>
      <p:cxnSp>
        <p:nvCxnSpPr>
          <p:cNvPr id="4" name="직선 화살표 연결선 3"/>
          <p:cNvCxnSpPr>
            <a:stCxn id="6" idx="0"/>
          </p:cNvCxnSpPr>
          <p:nvPr/>
        </p:nvCxnSpPr>
        <p:spPr>
          <a:xfrm flipV="1">
            <a:off x="1223963" y="2278380"/>
            <a:ext cx="814751" cy="27127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6" idx="0"/>
          </p:cNvCxnSpPr>
          <p:nvPr/>
        </p:nvCxnSpPr>
        <p:spPr>
          <a:xfrm flipV="1">
            <a:off x="1223963" y="2557365"/>
            <a:ext cx="1357172" cy="24337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11" idx="0"/>
          </p:cNvCxnSpPr>
          <p:nvPr/>
        </p:nvCxnSpPr>
        <p:spPr>
          <a:xfrm flipH="1" flipV="1">
            <a:off x="2673761" y="2737279"/>
            <a:ext cx="483777" cy="22538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16" idx="0"/>
          </p:cNvCxnSpPr>
          <p:nvPr/>
        </p:nvCxnSpPr>
        <p:spPr>
          <a:xfrm flipH="1" flipV="1">
            <a:off x="4432023" y="2796540"/>
            <a:ext cx="563840" cy="21945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21" idx="0"/>
          </p:cNvCxnSpPr>
          <p:nvPr/>
        </p:nvCxnSpPr>
        <p:spPr>
          <a:xfrm flipH="1" flipV="1">
            <a:off x="5060869" y="2796540"/>
            <a:ext cx="1773319" cy="21945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26" idx="0"/>
          </p:cNvCxnSpPr>
          <p:nvPr/>
        </p:nvCxnSpPr>
        <p:spPr>
          <a:xfrm flipV="1">
            <a:off x="8672513" y="3719969"/>
            <a:ext cx="648243" cy="12711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31" idx="0"/>
          </p:cNvCxnSpPr>
          <p:nvPr/>
        </p:nvCxnSpPr>
        <p:spPr>
          <a:xfrm flipV="1">
            <a:off x="10787063" y="2967734"/>
            <a:ext cx="269011" cy="20233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V="1">
            <a:off x="10816282" y="3130342"/>
            <a:ext cx="769166" cy="18607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100682" y="349337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버튼음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61262" y="3537404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버튼음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71918" y="349768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버튼음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18423" y="3476284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종료음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556748" y="347396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열림음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244057" y="349898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닫음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778135" y="3487477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0000"/>
                </a:solidFill>
              </a:rPr>
              <a:t>음식판돌아감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800850" y="3530700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0000"/>
                </a:solidFill>
              </a:rPr>
              <a:t>음식판돌아감</a:t>
            </a:r>
            <a:endParaRPr lang="ko-KR" altLang="en-US" sz="1000" b="1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55622" y="369385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멈춤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cxnSp>
        <p:nvCxnSpPr>
          <p:cNvPr id="71" name="직선 화살표 연결선 70"/>
          <p:cNvCxnSpPr>
            <a:stCxn id="122" idx="2"/>
          </p:cNvCxnSpPr>
          <p:nvPr/>
        </p:nvCxnSpPr>
        <p:spPr>
          <a:xfrm flipH="1">
            <a:off x="2884240" y="1455701"/>
            <a:ext cx="534540" cy="1005559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4" name="그림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387590" y="5809698"/>
            <a:ext cx="11359670" cy="334308"/>
          </a:xfrm>
          <a:prstGeom prst="rect">
            <a:avLst/>
          </a:prstGeom>
        </p:spPr>
      </p:pic>
      <p:cxnSp>
        <p:nvCxnSpPr>
          <p:cNvPr id="78" name="직선 화살표 연결선 77"/>
          <p:cNvCxnSpPr>
            <a:stCxn id="74" idx="2"/>
          </p:cNvCxnSpPr>
          <p:nvPr/>
        </p:nvCxnSpPr>
        <p:spPr>
          <a:xfrm flipH="1" flipV="1">
            <a:off x="5175231" y="3693327"/>
            <a:ext cx="892194" cy="211637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7" name="그림 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389" y="1876073"/>
            <a:ext cx="3490742" cy="1301828"/>
          </a:xfrm>
          <a:prstGeom prst="rect">
            <a:avLst/>
          </a:prstGeom>
        </p:spPr>
      </p:pic>
      <p:cxnSp>
        <p:nvCxnSpPr>
          <p:cNvPr id="82" name="직선 화살표 연결선 81"/>
          <p:cNvCxnSpPr>
            <a:stCxn id="77" idx="1"/>
          </p:cNvCxnSpPr>
          <p:nvPr/>
        </p:nvCxnSpPr>
        <p:spPr>
          <a:xfrm>
            <a:off x="5841389" y="2526987"/>
            <a:ext cx="445112" cy="120671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3" name="그림 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88900" y="6330431"/>
            <a:ext cx="12264935" cy="337517"/>
          </a:xfrm>
          <a:prstGeom prst="rect">
            <a:avLst/>
          </a:prstGeom>
        </p:spPr>
      </p:pic>
      <p:cxnSp>
        <p:nvCxnSpPr>
          <p:cNvPr id="97" name="직선 화살표 연결선 96"/>
          <p:cNvCxnSpPr/>
          <p:nvPr/>
        </p:nvCxnSpPr>
        <p:spPr>
          <a:xfrm flipV="1">
            <a:off x="9933490" y="3620799"/>
            <a:ext cx="204540" cy="2674695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26" idx="0"/>
          </p:cNvCxnSpPr>
          <p:nvPr/>
        </p:nvCxnSpPr>
        <p:spPr>
          <a:xfrm flipV="1">
            <a:off x="8672513" y="4438002"/>
            <a:ext cx="817209" cy="5530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452890" y="385764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mtClean="0">
                <a:solidFill>
                  <a:srgbClr val="FFFF00"/>
                </a:solidFill>
              </a:rPr>
              <a:t>깜빡이</a:t>
            </a:r>
            <a:endParaRPr lang="ko-KR" altLang="en-US" sz="1000" b="1">
              <a:solidFill>
                <a:srgbClr val="FFFF00"/>
              </a:solidFill>
            </a:endParaRPr>
          </a:p>
        </p:txBody>
      </p:sp>
      <p:pic>
        <p:nvPicPr>
          <p:cNvPr id="111" name="그림 1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5928" y="708049"/>
            <a:ext cx="7216072" cy="693957"/>
          </a:xfrm>
          <a:prstGeom prst="rect">
            <a:avLst/>
          </a:prstGeom>
        </p:spPr>
      </p:pic>
      <p:cxnSp>
        <p:nvCxnSpPr>
          <p:cNvPr id="118" name="직선 화살표 연결선 117"/>
          <p:cNvCxnSpPr>
            <a:stCxn id="111" idx="2"/>
            <a:endCxn id="117" idx="0"/>
          </p:cNvCxnSpPr>
          <p:nvPr/>
        </p:nvCxnSpPr>
        <p:spPr>
          <a:xfrm>
            <a:off x="8583964" y="1402006"/>
            <a:ext cx="2726463" cy="125979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10795167" y="2661803"/>
            <a:ext cx="1030519" cy="8688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/>
          <p:cNvSpPr/>
          <p:nvPr/>
        </p:nvSpPr>
        <p:spPr>
          <a:xfrm flipH="1">
            <a:off x="2390776" y="2138817"/>
            <a:ext cx="493464" cy="7130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" name="그림 1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8714" y="433037"/>
            <a:ext cx="2760132" cy="1022664"/>
          </a:xfrm>
          <a:prstGeom prst="rect">
            <a:avLst/>
          </a:prstGeom>
        </p:spPr>
      </p:pic>
      <p:sp>
        <p:nvSpPr>
          <p:cNvPr id="128" name="단계 2 예상 동작">
            <a:extLst>
              <a:ext uri="{FF2B5EF4-FFF2-40B4-BE49-F238E27FC236}">
                <a16:creationId xmlns:a16="http://schemas.microsoft.com/office/drawing/2014/main" id="{82456B44-AC7D-457E-AD1B-16C4A8E6AB16}"/>
              </a:ext>
            </a:extLst>
          </p:cNvPr>
          <p:cNvSpPr>
            <a:spLocks noGrp="1"/>
          </p:cNvSpPr>
          <p:nvPr/>
        </p:nvSpPr>
        <p:spPr>
          <a:xfrm>
            <a:off x="3114593" y="864488"/>
            <a:ext cx="161285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>
              <a:defRPr sz="1163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2000" b="0" smtClean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12345678910</a:t>
            </a:r>
            <a:endParaRPr sz="2000" b="0">
              <a:solidFill>
                <a:srgbClr val="FFFF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0546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4">
            <a:extLst>
              <a:ext uri="{FF2B5EF4-FFF2-40B4-BE49-F238E27FC236}">
                <a16:creationId xmlns:a16="http://schemas.microsoft.com/office/drawing/2014/main" id="{DA226CCC-E956-41CB-82A4-CA6820A7D34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동작 </a:t>
            </a: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동영상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26" name="Google Shape;1026;p24">
            <a:extLst>
              <a:ext uri="{FF2B5EF4-FFF2-40B4-BE49-F238E27FC236}">
                <a16:creationId xmlns:a16="http://schemas.microsoft.com/office/drawing/2014/main" id="{40C621D0-2CBF-464D-8807-D619300B46C1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27" name="Google Shape;1027;p24">
            <a:extLst>
              <a:ext uri="{FF2B5EF4-FFF2-40B4-BE49-F238E27FC236}">
                <a16:creationId xmlns:a16="http://schemas.microsoft.com/office/drawing/2014/main" id="{207B2576-2EE5-4FB9-B3AF-826E46B87685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DEMONSTRATION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32" name="line-345">
            <a:extLst>
              <a:ext uri="{FF2B5EF4-FFF2-40B4-BE49-F238E27FC236}">
                <a16:creationId xmlns:a16="http://schemas.microsoft.com/office/drawing/2014/main" id="{8D00EDD5-B12F-4A29-9690-B3E85C2DC9DE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972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61029_09282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0975" y="1408112"/>
            <a:ext cx="8134350" cy="4572000"/>
          </a:xfrm>
          <a:prstGeom prst="rect">
            <a:avLst/>
          </a:prstGeom>
        </p:spPr>
      </p:pic>
      <p:sp>
        <p:nvSpPr>
          <p:cNvPr id="19" name="box-216">
            <a:extLst>
              <a:ext uri="{FF2B5EF4-FFF2-40B4-BE49-F238E27FC236}">
                <a16:creationId xmlns:a16="http://schemas.microsoft.com/office/drawing/2014/main" id="{60F3682B-49EE-46A5-84B5-0BFFBDE3C7F4}"/>
              </a:ext>
            </a:extLst>
          </p:cNvPr>
          <p:cNvSpPr>
            <a:spLocks noGrp="1"/>
          </p:cNvSpPr>
          <p:nvPr/>
        </p:nvSpPr>
        <p:spPr>
          <a:xfrm>
            <a:off x="7053580" y="1255712"/>
            <a:ext cx="4667250" cy="5157786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122" name="Google Shape;1122;p26">
            <a:extLst>
              <a:ext uri="{FF2B5EF4-FFF2-40B4-BE49-F238E27FC236}">
                <a16:creationId xmlns:a16="http://schemas.microsoft.com/office/drawing/2014/main" id="{35BC4DBC-3FE6-43EA-9752-7E07587E8A2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  <a:endParaRPr sz="2100" b="1" i="0" u="none" strike="noStrike" cap="none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3" name="Google Shape;1123;p26">
            <a:extLst>
              <a:ext uri="{FF2B5EF4-FFF2-40B4-BE49-F238E27FC236}">
                <a16:creationId xmlns:a16="http://schemas.microsoft.com/office/drawing/2014/main" id="{7DCD2877-1EEB-4A23-A36C-1B12CB289456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4" name="Google Shape;1124;p26">
            <a:extLst>
              <a:ext uri="{FF2B5EF4-FFF2-40B4-BE49-F238E27FC236}">
                <a16:creationId xmlns:a16="http://schemas.microsoft.com/office/drawing/2014/main" id="{CCE1DB75-14BF-4E0D-BB9A-6AF2470D7FFD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TROUBLESHOOTING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-357">
            <a:extLst>
              <a:ext uri="{FF2B5EF4-FFF2-40B4-BE49-F238E27FC236}">
                <a16:creationId xmlns:a16="http://schemas.microsoft.com/office/drawing/2014/main" id="{55C3F2FF-1284-476A-AC59-C03C37E7DC01}"/>
              </a:ext>
            </a:extLst>
          </p:cNvPr>
          <p:cNvSpPr>
            <a:spLocks noGrp="1"/>
          </p:cNvSpPr>
          <p:nvPr/>
        </p:nvSpPr>
        <p:spPr>
          <a:xfrm>
            <a:off x="809625" y="1008062"/>
            <a:ext cx="12287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8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리셋 버그</a:t>
            </a:r>
            <a:endParaRPr sz="18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387" y="1501733"/>
            <a:ext cx="3858163" cy="5715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387" y="2325499"/>
            <a:ext cx="3734321" cy="150516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702" y="4783264"/>
            <a:ext cx="4229690" cy="1495634"/>
          </a:xfrm>
          <a:prstGeom prst="rect">
            <a:avLst/>
          </a:prstGeom>
        </p:spPr>
      </p:pic>
      <p:cxnSp>
        <p:nvCxnSpPr>
          <p:cNvPr id="15" name="직선 화살표 연결선 14"/>
          <p:cNvCxnSpPr>
            <a:stCxn id="5" idx="2"/>
            <a:endCxn id="6" idx="0"/>
          </p:cNvCxnSpPr>
          <p:nvPr/>
        </p:nvCxnSpPr>
        <p:spPr>
          <a:xfrm flipH="1">
            <a:off x="9353547" y="3830659"/>
            <a:ext cx="1" cy="9526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53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6">
            <a:extLst>
              <a:ext uri="{FF2B5EF4-FFF2-40B4-BE49-F238E27FC236}">
                <a16:creationId xmlns:a16="http://schemas.microsoft.com/office/drawing/2014/main" id="{35BC4DBC-3FE6-43EA-9752-7E07587E8A2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  <a:endParaRPr sz="2100" b="1" i="0" u="none" strike="noStrike" cap="none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3" name="Google Shape;1123;p26">
            <a:extLst>
              <a:ext uri="{FF2B5EF4-FFF2-40B4-BE49-F238E27FC236}">
                <a16:creationId xmlns:a16="http://schemas.microsoft.com/office/drawing/2014/main" id="{7DCD2877-1EEB-4A23-A36C-1B12CB289456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4" name="Google Shape;1124;p26">
            <a:extLst>
              <a:ext uri="{FF2B5EF4-FFF2-40B4-BE49-F238E27FC236}">
                <a16:creationId xmlns:a16="http://schemas.microsoft.com/office/drawing/2014/main" id="{CCE1DB75-14BF-4E0D-BB9A-6AF2470D7FFD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TROUBLESHOOTING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-357">
            <a:extLst>
              <a:ext uri="{FF2B5EF4-FFF2-40B4-BE49-F238E27FC236}">
                <a16:creationId xmlns:a16="http://schemas.microsoft.com/office/drawing/2014/main" id="{55C3F2FF-1284-476A-AC59-C03C37E7DC01}"/>
              </a:ext>
            </a:extLst>
          </p:cNvPr>
          <p:cNvSpPr>
            <a:spLocks noGrp="1"/>
          </p:cNvSpPr>
          <p:nvPr/>
        </p:nvSpPr>
        <p:spPr>
          <a:xfrm>
            <a:off x="809625" y="1008062"/>
            <a:ext cx="2343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8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서보 모터 버그</a:t>
            </a:r>
            <a:endParaRPr sz="18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408112"/>
            <a:ext cx="5171378" cy="48617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1363736"/>
            <a:ext cx="4970953" cy="4865379"/>
          </a:xfrm>
          <a:prstGeom prst="rect">
            <a:avLst/>
          </a:prstGeom>
        </p:spPr>
      </p:pic>
      <p:cxnSp>
        <p:nvCxnSpPr>
          <p:cNvPr id="13" name="직선 화살표 연결선 12"/>
          <p:cNvCxnSpPr/>
          <p:nvPr/>
        </p:nvCxnSpPr>
        <p:spPr>
          <a:xfrm>
            <a:off x="4276956" y="5750150"/>
            <a:ext cx="5009284" cy="27062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988881" y="5063068"/>
            <a:ext cx="11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mtClean="0">
                <a:solidFill>
                  <a:srgbClr val="FF0000"/>
                </a:solidFill>
              </a:rPr>
              <a:t>45</a:t>
            </a:r>
            <a:r>
              <a:rPr lang="ko-KR" altLang="en-US" sz="3600" b="1" smtClean="0">
                <a:solidFill>
                  <a:srgbClr val="FF0000"/>
                </a:solidFill>
              </a:rPr>
              <a:t>도</a:t>
            </a:r>
            <a:endParaRPr lang="ko-KR" altLang="en-US" sz="3600" b="1">
              <a:solidFill>
                <a:srgbClr val="FF0000"/>
              </a:solidFill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 flipV="1">
            <a:off x="3562669" y="2741709"/>
            <a:ext cx="816291" cy="26517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9763457" y="2589197"/>
            <a:ext cx="816291" cy="26517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887" y="1029349"/>
            <a:ext cx="4295570" cy="2677677"/>
          </a:xfrm>
          <a:prstGeom prst="rect">
            <a:avLst/>
          </a:prstGeom>
        </p:spPr>
      </p:pic>
      <p:sp>
        <p:nvSpPr>
          <p:cNvPr id="25" name="box-216">
            <a:extLst>
              <a:ext uri="{FF2B5EF4-FFF2-40B4-BE49-F238E27FC236}">
                <a16:creationId xmlns:a16="http://schemas.microsoft.com/office/drawing/2014/main" id="{60F3682B-49EE-46A5-84B5-0BFFBDE3C7F4}"/>
              </a:ext>
            </a:extLst>
          </p:cNvPr>
          <p:cNvSpPr>
            <a:spLocks noGrp="1"/>
          </p:cNvSpPr>
          <p:nvPr/>
        </p:nvSpPr>
        <p:spPr>
          <a:xfrm>
            <a:off x="4332309" y="3732573"/>
            <a:ext cx="5192691" cy="1660884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384" y="3990406"/>
            <a:ext cx="4534533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6">
            <a:extLst>
              <a:ext uri="{FF2B5EF4-FFF2-40B4-BE49-F238E27FC236}">
                <a16:creationId xmlns:a16="http://schemas.microsoft.com/office/drawing/2014/main" id="{35BC4DBC-3FE6-43EA-9752-7E07587E8A2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1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  <a:endParaRPr sz="2100" b="1" i="0" u="none" strike="noStrike" cap="none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3" name="Google Shape;1123;p26">
            <a:extLst>
              <a:ext uri="{FF2B5EF4-FFF2-40B4-BE49-F238E27FC236}">
                <a16:creationId xmlns:a16="http://schemas.microsoft.com/office/drawing/2014/main" id="{7DCD2877-1EEB-4A23-A36C-1B12CB289456}"/>
              </a:ext>
            </a:extLst>
          </p:cNvPr>
          <p:cNvSpPr>
            <a:spLocks noGrp="1"/>
          </p:cNvSpPr>
          <p:nvPr/>
        </p:nvSpPr>
        <p:spPr>
          <a:xfrm>
            <a:off x="4686300" y="647700"/>
            <a:ext cx="6896100" cy="14288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4" name="Google Shape;1124;p26">
            <a:extLst>
              <a:ext uri="{FF2B5EF4-FFF2-40B4-BE49-F238E27FC236}">
                <a16:creationId xmlns:a16="http://schemas.microsoft.com/office/drawing/2014/main" id="{CCE1DB75-14BF-4E0D-BB9A-6AF2470D7FFD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defPPr algn="r"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r"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A75"/>
              </a:buClr>
              <a:buSzPts val="750"/>
              <a:buFont typeface="맑은 고딕"/>
              <a:buNone/>
              <a:defRPr sz="750" b="1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750" b="1" i="0" u="none" strike="noStrike" cap="none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TROUBLESHOOTING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-357">
            <a:extLst>
              <a:ext uri="{FF2B5EF4-FFF2-40B4-BE49-F238E27FC236}">
                <a16:creationId xmlns:a16="http://schemas.microsoft.com/office/drawing/2014/main" id="{55C3F2FF-1284-476A-AC59-C03C37E7DC01}"/>
              </a:ext>
            </a:extLst>
          </p:cNvPr>
          <p:cNvSpPr>
            <a:spLocks noGrp="1"/>
          </p:cNvSpPr>
          <p:nvPr/>
        </p:nvSpPr>
        <p:spPr>
          <a:xfrm>
            <a:off x="809625" y="1008062"/>
            <a:ext cx="2343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800" b="1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서보 모터 버그</a:t>
            </a:r>
            <a:endParaRPr sz="18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9" y="1459706"/>
            <a:ext cx="4692661" cy="50196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744" y="1373347"/>
            <a:ext cx="4667250" cy="5106034"/>
          </a:xfrm>
          <a:prstGeom prst="rect">
            <a:avLst/>
          </a:prstGeom>
        </p:spPr>
      </p:pic>
      <p:cxnSp>
        <p:nvCxnSpPr>
          <p:cNvPr id="15" name="직선 화살표 연결선 14"/>
          <p:cNvCxnSpPr/>
          <p:nvPr/>
        </p:nvCxnSpPr>
        <p:spPr>
          <a:xfrm>
            <a:off x="4235144" y="5512025"/>
            <a:ext cx="5508296" cy="82214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00474" y="4901289"/>
            <a:ext cx="1449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mtClean="0">
                <a:solidFill>
                  <a:srgbClr val="FF0000"/>
                </a:solidFill>
              </a:rPr>
              <a:t>180</a:t>
            </a:r>
            <a:r>
              <a:rPr lang="ko-KR" altLang="en-US" sz="3600" b="1" smtClean="0">
                <a:solidFill>
                  <a:srgbClr val="FF0000"/>
                </a:solidFill>
              </a:rPr>
              <a:t>도</a:t>
            </a:r>
            <a:endParaRPr lang="ko-KR" altLang="en-US" sz="3600" b="1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 flipV="1">
            <a:off x="2788275" y="2905761"/>
            <a:ext cx="291464" cy="21843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9873944" y="3078480"/>
            <a:ext cx="279706" cy="20421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box-216">
            <a:extLst>
              <a:ext uri="{FF2B5EF4-FFF2-40B4-BE49-F238E27FC236}">
                <a16:creationId xmlns:a16="http://schemas.microsoft.com/office/drawing/2014/main" id="{60F3682B-49EE-46A5-84B5-0BFFBDE3C7F4}"/>
              </a:ext>
            </a:extLst>
          </p:cNvPr>
          <p:cNvSpPr>
            <a:spLocks noGrp="1"/>
          </p:cNvSpPr>
          <p:nvPr/>
        </p:nvSpPr>
        <p:spPr>
          <a:xfrm>
            <a:off x="3558711" y="3322320"/>
            <a:ext cx="5209369" cy="1578969"/>
          </a:xfrm>
          <a:prstGeom prst="rect">
            <a:avLst/>
          </a:prstGeom>
          <a:solidFill>
            <a:srgbClr val="F0F5EC"/>
          </a:solidFill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759" y="3626187"/>
            <a:ext cx="4553585" cy="102884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402" y="661988"/>
            <a:ext cx="4295570" cy="267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9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8">
            <a:extLst>
              <a:ext uri="{FF2B5EF4-FFF2-40B4-BE49-F238E27FC236}">
                <a16:creationId xmlns:a16="http://schemas.microsoft.com/office/drawing/2014/main" id="{E32FBEE9-3F2C-45EC-8A69-CC1D5D94B38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defPPr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311"/>
              </a:buClr>
              <a:buSzPts val="2400"/>
              <a:buFont typeface="맑은 고딕"/>
              <a:buNone/>
              <a:defRPr sz="21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i="0" u="none" strike="noStrike" cap="none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구현 </a:t>
            </a:r>
            <a:r>
              <a:rPr sz="2100" b="1" i="0" u="none" strike="noStrike" cap="none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후기</a:t>
            </a: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17" name="Google Shape;1217;p28">
            <a:extLst>
              <a:ext uri="{FF2B5EF4-FFF2-40B4-BE49-F238E27FC236}">
                <a16:creationId xmlns:a16="http://schemas.microsoft.com/office/drawing/2014/main" id="{94FE969C-05D1-4E8C-A117-2FDECC9CB7EE}"/>
              </a:ext>
            </a:extLst>
          </p:cNvPr>
          <p:cNvSpPr>
            <a:spLocks noGrp="1"/>
          </p:cNvSpPr>
          <p:nvPr/>
        </p:nvSpPr>
        <p:spPr>
          <a:xfrm>
            <a:off x="4953000" y="723900"/>
            <a:ext cx="6572250" cy="9525"/>
          </a:xfrm>
          <a:prstGeom prst="rect">
            <a:avLst/>
          </a:prstGeom>
          <a:solidFill>
            <a:srgbClr val="747A7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맑은 고딕"/>
              <a:buNone/>
            </a:pPr>
            <a:endParaRPr sz="14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23" name="text-363">
            <a:extLst>
              <a:ext uri="{FF2B5EF4-FFF2-40B4-BE49-F238E27FC236}">
                <a16:creationId xmlns:a16="http://schemas.microsoft.com/office/drawing/2014/main" id="{55DFCE42-272B-4098-AB13-A37F56D1ADE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mtClean="0"/>
              <a:t>코드 작성 전 사전 인터페이스를 명확하게 정리</a:t>
            </a:r>
            <a:endParaRPr sz="1800" b="1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24" name="line-364">
            <a:extLst>
              <a:ext uri="{FF2B5EF4-FFF2-40B4-BE49-F238E27FC236}">
                <a16:creationId xmlns:a16="http://schemas.microsoft.com/office/drawing/2014/main" id="{6E32415B-B512-4553-B282-9BEA24B2EAFC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10972800" cy="0"/>
          </a:xfrm>
          <a:prstGeom prst="line">
            <a:avLst/>
          </a:prstGeom>
          <a:noFill/>
          <a:ln w="28575">
            <a:solidFill>
              <a:srgbClr val="557363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225" name="text-365">
            <a:extLst>
              <a:ext uri="{FF2B5EF4-FFF2-40B4-BE49-F238E27FC236}">
                <a16:creationId xmlns:a16="http://schemas.microsoft.com/office/drawing/2014/main" id="{977F9C72-1B3C-499F-812E-23454CB9D95C}"/>
              </a:ext>
            </a:extLst>
          </p:cNvPr>
          <p:cNvSpPr>
            <a:spLocks noGrp="1"/>
          </p:cNvSpPr>
          <p:nvPr/>
        </p:nvSpPr>
        <p:spPr>
          <a:xfrm>
            <a:off x="1619250" y="2643188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인터페이스를 먼저 정의</a:t>
            </a:r>
          </a:p>
        </p:txBody>
      </p:sp>
      <p:sp>
        <p:nvSpPr>
          <p:cNvPr id="1226" name="text-366">
            <a:extLst>
              <a:ext uri="{FF2B5EF4-FFF2-40B4-BE49-F238E27FC236}">
                <a16:creationId xmlns:a16="http://schemas.microsoft.com/office/drawing/2014/main" id="{7E1A4561-D332-4F2B-AC8C-B063BAD56E36}"/>
              </a:ext>
            </a:extLst>
          </p:cNvPr>
          <p:cNvSpPr>
            <a:spLocks noGrp="1"/>
          </p:cNvSpPr>
          <p:nvPr/>
        </p:nvSpPr>
        <p:spPr>
          <a:xfrm>
            <a:off x="1619249" y="3348038"/>
            <a:ext cx="3930945" cy="2066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레벨·펄스, 단위, 반복 조건을</a:t>
            </a:r>
          </a:p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먼저 정해 모듈 </a:t>
            </a:r>
            <a:r>
              <a:rPr lang="ko-KR" altLang="en-US" smtClean="0">
                <a:latin typeface="맑은 고딕"/>
                <a:ea typeface="맑은 고딕"/>
                <a:cs typeface="맑은 고딕"/>
              </a:rPr>
              <a:t>데이터 확정</a:t>
            </a:r>
            <a:endParaRPr lang="en-US" sz="1725" b="0" smtClean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포트 </a:t>
            </a: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폭과 함께 데이터의 </a:t>
            </a: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의미</a:t>
            </a:r>
            <a:r>
              <a:rPr lang="ko-KR" alt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를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인터페이스의 일부로 </a:t>
            </a: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관리</a:t>
            </a:r>
            <a:r>
              <a:rPr lang="ko-KR" altLang="en-US"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가 필요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27" name="line-367">
            <a:extLst>
              <a:ext uri="{FF2B5EF4-FFF2-40B4-BE49-F238E27FC236}">
                <a16:creationId xmlns:a16="http://schemas.microsoft.com/office/drawing/2014/main" id="{AAC8EF2F-3AA3-4360-9C29-028E665776BF}"/>
              </a:ext>
            </a:extLst>
          </p:cNvPr>
          <p:cNvSpPr>
            <a:spLocks noGrp="1"/>
          </p:cNvSpPr>
          <p:nvPr/>
        </p:nvSpPr>
        <p:spPr>
          <a:xfrm>
            <a:off x="5904396" y="2143125"/>
            <a:ext cx="0" cy="3171825"/>
          </a:xfrm>
          <a:prstGeom prst="line">
            <a:avLst/>
          </a:prstGeom>
          <a:noFill/>
          <a:ln w="9525">
            <a:solidFill>
              <a:srgbClr val="BEC4BF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228" name="text-368">
            <a:extLst>
              <a:ext uri="{FF2B5EF4-FFF2-40B4-BE49-F238E27FC236}">
                <a16:creationId xmlns:a16="http://schemas.microsoft.com/office/drawing/2014/main" id="{A53B0FD7-171D-4919-8049-04F785E1287D}"/>
              </a:ext>
            </a:extLst>
          </p:cNvPr>
          <p:cNvSpPr>
            <a:spLocks noGrp="1"/>
          </p:cNvSpPr>
          <p:nvPr/>
        </p:nvSpPr>
        <p:spPr>
          <a:xfrm>
            <a:off x="7277100" y="2643188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상태 제어와 파형 생성 분리</a:t>
            </a:r>
          </a:p>
        </p:txBody>
      </p:sp>
      <p:sp>
        <p:nvSpPr>
          <p:cNvPr id="1229" name="text-369">
            <a:extLst>
              <a:ext uri="{FF2B5EF4-FFF2-40B4-BE49-F238E27FC236}">
                <a16:creationId xmlns:a16="http://schemas.microsoft.com/office/drawing/2014/main" id="{C7D35D99-BFF9-4199-832D-08A39ED0123D}"/>
              </a:ext>
            </a:extLst>
          </p:cNvPr>
          <p:cNvSpPr>
            <a:spLocks noGrp="1"/>
          </p:cNvSpPr>
          <p:nvPr/>
        </p:nvSpPr>
        <p:spPr>
          <a:xfrm>
            <a:off x="7277100" y="3348038"/>
            <a:ext cx="3333750" cy="10526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FSM은 동작과 명령을 </a:t>
            </a: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결정</a:t>
            </a:r>
            <a:endParaRPr lang="en-US" sz="1725" b="0" smtClean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하위 </a:t>
            </a: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모듈은 주기·펄스 폭과</a:t>
            </a:r>
          </a:p>
          <a:p>
            <a:pPr algn="l">
              <a:buNone/>
              <a:def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멜로디를 </a:t>
            </a:r>
            <a:r>
              <a:rPr sz="1725" b="0" smtClean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관리</a:t>
            </a:r>
            <a:endParaRPr sz="1725" b="0">
              <a:solidFill>
                <a:srgbClr val="111311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6214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box-386">
            <a:extLst>
              <a:ext uri="{FF2B5EF4-FFF2-40B4-BE49-F238E27FC236}">
                <a16:creationId xmlns:a16="http://schemas.microsoft.com/office/drawing/2014/main" id="{629B9F94-CCFE-4E11-B930-7975232DC600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95250" cy="952500"/>
          </a:xfrm>
          <a:prstGeom prst="rect">
            <a:avLst/>
          </a:prstGeom>
          <a:solidFill>
            <a:srgbClr val="111311"/>
          </a:solidFill>
          <a:ln w="9525">
            <a:solidFill>
              <a:srgbClr val="111311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359" name="line-387">
            <a:extLst>
              <a:ext uri="{FF2B5EF4-FFF2-40B4-BE49-F238E27FC236}">
                <a16:creationId xmlns:a16="http://schemas.microsoft.com/office/drawing/2014/main" id="{21905C0D-E8CA-4FE4-BDC6-254609C7696D}"/>
              </a:ext>
            </a:extLst>
          </p:cNvPr>
          <p:cNvSpPr>
            <a:spLocks noGrp="1"/>
          </p:cNvSpPr>
          <p:nvPr/>
        </p:nvSpPr>
        <p:spPr>
          <a:xfrm>
            <a:off x="933450" y="838200"/>
            <a:ext cx="4895850" cy="0"/>
          </a:xfrm>
          <a:prstGeom prst="line">
            <a:avLst/>
          </a:prstGeom>
          <a:noFill/>
          <a:ln w="9525">
            <a:solidFill>
              <a:srgbClr val="747A75"/>
            </a:solidFill>
          </a:ln>
        </p:spPr>
        <p:txBody>
          <a:bodyPr/>
          <a:lstStyle>
            <a:defPPr>
              <a:defRPr>
                <a:latin typeface="맑은 고딕"/>
                <a:ea typeface="맑은 고딕"/>
                <a:cs typeface="맑은 고딕"/>
              </a:defRPr>
            </a:defPPr>
            <a:lvl1pPr>
              <a:defRPr>
                <a:latin typeface="맑은 고딕"/>
                <a:ea typeface="맑은 고딕"/>
                <a:cs typeface="맑은 고딕"/>
              </a:defRPr>
            </a:lvl1pPr>
            <a:lvl2pPr>
              <a:defRPr>
                <a:latin typeface="맑은 고딕"/>
                <a:ea typeface="맑은 고딕"/>
                <a:cs typeface="맑은 고딕"/>
              </a:defRPr>
            </a:lvl2pPr>
            <a:lvl3pPr>
              <a:defRPr>
                <a:latin typeface="맑은 고딕"/>
                <a:ea typeface="맑은 고딕"/>
                <a:cs typeface="맑은 고딕"/>
              </a:defRPr>
            </a:lvl3pPr>
            <a:lvl4pPr>
              <a:defRPr>
                <a:latin typeface="맑은 고딕"/>
                <a:ea typeface="맑은 고딕"/>
                <a:cs typeface="맑은 고딕"/>
              </a:defRPr>
            </a:lvl4pPr>
            <a:lvl5pPr>
              <a:defRPr>
                <a:latin typeface="맑은 고딕"/>
                <a:ea typeface="맑은 고딕"/>
                <a:cs typeface="맑은 고딕"/>
              </a:defRPr>
            </a:lvl5pPr>
            <a:lvl6pPr>
              <a:defRPr>
                <a:latin typeface="맑은 고딕"/>
                <a:ea typeface="맑은 고딕"/>
                <a:cs typeface="맑은 고딕"/>
              </a:defRPr>
            </a:lvl6pPr>
            <a:lvl7pPr>
              <a:defRPr>
                <a:latin typeface="맑은 고딕"/>
                <a:ea typeface="맑은 고딕"/>
                <a:cs typeface="맑은 고딕"/>
              </a:defRPr>
            </a:lvl7pPr>
            <a:lvl8pPr>
              <a:defRPr>
                <a:latin typeface="맑은 고딕"/>
                <a:ea typeface="맑은 고딕"/>
                <a:cs typeface="맑은 고딕"/>
              </a:defRPr>
            </a:lvl8pPr>
            <a:lvl9pPr>
              <a:defRPr>
                <a:latin typeface="맑은 고딕"/>
                <a:ea typeface="맑은 고딕"/>
                <a:cs typeface="맑은 고딕"/>
              </a:defRPr>
            </a:lvl9pPr>
          </a:lstStyle>
          <a:p>
            <a:endParaRPr/>
          </a:p>
        </p:txBody>
      </p:sp>
      <p:sp>
        <p:nvSpPr>
          <p:cNvPr id="1360" name="text-388">
            <a:extLst>
              <a:ext uri="{FF2B5EF4-FFF2-40B4-BE49-F238E27FC236}">
                <a16:creationId xmlns:a16="http://schemas.microsoft.com/office/drawing/2014/main" id="{8589A2D6-C40E-4E7C-9AE4-BF6E73470A0F}"/>
              </a:ext>
            </a:extLst>
          </p:cNvPr>
          <p:cNvSpPr>
            <a:spLocks noGrp="1"/>
          </p:cNvSpPr>
          <p:nvPr/>
        </p:nvSpPr>
        <p:spPr>
          <a:xfrm>
            <a:off x="1028700" y="10477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557363"/>
                </a:solidFill>
                <a:latin typeface="맑은 고딕"/>
                <a:ea typeface="맑은 고딕"/>
                <a:cs typeface="맑은 고딕"/>
              </a:rPr>
              <a:t>QUESTIONS &amp; ANSWERS</a:t>
            </a:r>
          </a:p>
        </p:txBody>
      </p:sp>
      <p:sp>
        <p:nvSpPr>
          <p:cNvPr id="1361" name="text-389">
            <a:extLst>
              <a:ext uri="{FF2B5EF4-FFF2-40B4-BE49-F238E27FC236}">
                <a16:creationId xmlns:a16="http://schemas.microsoft.com/office/drawing/2014/main" id="{5C153366-0D56-4D2C-B421-5AF4C84136EB}"/>
              </a:ext>
            </a:extLst>
          </p:cNvPr>
          <p:cNvSpPr>
            <a:spLocks noGrp="1"/>
          </p:cNvSpPr>
          <p:nvPr/>
        </p:nvSpPr>
        <p:spPr>
          <a:xfrm>
            <a:off x="1028700" y="2171700"/>
            <a:ext cx="666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5700" b="1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Q&amp;A</a:t>
            </a:r>
          </a:p>
        </p:txBody>
      </p:sp>
      <p:sp>
        <p:nvSpPr>
          <p:cNvPr id="1362" name="text-390">
            <a:extLst>
              <a:ext uri="{FF2B5EF4-FFF2-40B4-BE49-F238E27FC236}">
                <a16:creationId xmlns:a16="http://schemas.microsoft.com/office/drawing/2014/main" id="{5F8241B2-C51E-4766-878B-1D6EEE185424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9525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11311"/>
                </a:solidFill>
                <a:latin typeface="맑은 고딕"/>
                <a:ea typeface="맑은 고딕"/>
                <a:cs typeface="맑은 고딕"/>
              </a:rPr>
              <a:t>FPGA 전자레인지 제어 시스템</a:t>
            </a:r>
          </a:p>
        </p:txBody>
      </p:sp>
      <p:sp>
        <p:nvSpPr>
          <p:cNvPr id="1363" name="text-391">
            <a:extLst>
              <a:ext uri="{FF2B5EF4-FFF2-40B4-BE49-F238E27FC236}">
                <a16:creationId xmlns:a16="http://schemas.microsoft.com/office/drawing/2014/main" id="{CF133042-595A-4063-88C3-65C7F06917EE}"/>
              </a:ext>
            </a:extLst>
          </p:cNvPr>
          <p:cNvSpPr>
            <a:spLocks noGrp="1"/>
          </p:cNvSpPr>
          <p:nvPr/>
        </p:nvSpPr>
        <p:spPr>
          <a:xfrm>
            <a:off x="1028700" y="438150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defPPr>
            <a:lvl1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1pPr>
            <a:lvl2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2pPr>
            <a:lvl3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3pPr>
            <a:lvl4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4pPr>
            <a:lvl5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5pPr>
            <a:lvl6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6pPr>
            <a:lvl7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7pPr>
            <a:lvl8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8pPr>
            <a:lvl9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l">
              <a:buNone/>
              <a:def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Architecture / </a:t>
            </a:r>
            <a:r>
              <a:rPr sz="1950" b="0" smtClean="0">
                <a:solidFill>
                  <a:srgbClr val="747A75"/>
                </a:solidFill>
                <a:latin typeface="맑은 고딕"/>
                <a:ea typeface="맑은 고딕"/>
                <a:cs typeface="맑은 고딕"/>
              </a:rPr>
              <a:t>FSM</a:t>
            </a:r>
            <a:endParaRPr sz="1950" b="0">
              <a:solidFill>
                <a:srgbClr val="747A7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992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맑은 고딕"/>
        <a:cs typeface="맑은 고딕"/>
        <a:font script="Jpan" typeface="맑은 고딕"/>
        <a:font script="Hang" typeface="맑은 고딕"/>
        <a:font script="Hans" typeface="맑은 고딕"/>
        <a:font script="Hant" typeface="맑은 고딕"/>
        <a:font script="Arab" typeface="맑은 고딕"/>
        <a:font script="Hebr" typeface="맑은 고딕"/>
        <a:font script="Thai" typeface="맑은 고딕"/>
        <a:font script="Ethi" typeface="맑은 고딕"/>
        <a:font script="Beng" typeface="맑은 고딕"/>
        <a:font script="Gujr" typeface="맑은 고딕"/>
        <a:font script="Khmr" typeface="맑은 고딕"/>
        <a:font script="Knda" typeface="맑은 고딕"/>
        <a:font script="Guru" typeface="맑은 고딕"/>
        <a:font script="Cans" typeface="맑은 고딕"/>
        <a:font script="Cher" typeface="맑은 고딕"/>
        <a:font script="Yiii" typeface="맑은 고딕"/>
        <a:font script="Tibt" typeface="맑은 고딕"/>
        <a:font script="Thaa" typeface="맑은 고딕"/>
        <a:font script="Deva" typeface="맑은 고딕"/>
        <a:font script="Telu" typeface="맑은 고딕"/>
        <a:font script="Taml" typeface="맑은 고딕"/>
        <a:font script="Syrc" typeface="맑은 고딕"/>
        <a:font script="Orya" typeface="맑은 고딕"/>
        <a:font script="Mlym" typeface="맑은 고딕"/>
        <a:font script="Laoo" typeface="맑은 고딕"/>
        <a:font script="Sinh" typeface="맑은 고딕"/>
        <a:font script="Mong" typeface="맑은 고딕"/>
        <a:font script="Viet" typeface="맑은 고딕"/>
        <a:font script="Uigh" typeface="맑은 고딕"/>
        <a:font script="Geor" typeface="맑은 고딕"/>
      </a:majorFont>
      <a:minorFont>
        <a:latin typeface="맑은 고딕"/>
        <a:ea typeface="맑은 고딕"/>
        <a:cs typeface="맑은 고딕"/>
        <a:font script="Jpan" typeface="맑은 고딕"/>
        <a:font script="Hang" typeface="맑은 고딕"/>
        <a:font script="Hans" typeface="맑은 고딕"/>
        <a:font script="Hant" typeface="맑은 고딕"/>
        <a:font script="Arab" typeface="맑은 고딕"/>
        <a:font script="Hebr" typeface="맑은 고딕"/>
        <a:font script="Thai" typeface="맑은 고딕"/>
        <a:font script="Ethi" typeface="맑은 고딕"/>
        <a:font script="Beng" typeface="맑은 고딕"/>
        <a:font script="Gujr" typeface="맑은 고딕"/>
        <a:font script="Khmr" typeface="맑은 고딕"/>
        <a:font script="Knda" typeface="맑은 고딕"/>
        <a:font script="Guru" typeface="맑은 고딕"/>
        <a:font script="Cans" typeface="맑은 고딕"/>
        <a:font script="Cher" typeface="맑은 고딕"/>
        <a:font script="Yiii" typeface="맑은 고딕"/>
        <a:font script="Tibt" typeface="맑은 고딕"/>
        <a:font script="Thaa" typeface="맑은 고딕"/>
        <a:font script="Deva" typeface="맑은 고딕"/>
        <a:font script="Telu" typeface="맑은 고딕"/>
        <a:font script="Taml" typeface="맑은 고딕"/>
        <a:font script="Syrc" typeface="맑은 고딕"/>
        <a:font script="Orya" typeface="맑은 고딕"/>
        <a:font script="Mlym" typeface="맑은 고딕"/>
        <a:font script="Laoo" typeface="맑은 고딕"/>
        <a:font script="Sinh" typeface="맑은 고딕"/>
        <a:font script="Mong" typeface="맑은 고딕"/>
        <a:font script="Viet" typeface="맑은 고딕"/>
        <a:font script="Uigh" typeface="맑은 고딕"/>
        <a:font script="Geor" typeface="맑은 고딕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맑은 고딕"/>
        <a:cs typeface="맑은 고딕"/>
        <a:font script="Jpan" typeface="맑은 고딕"/>
        <a:font script="Hang" typeface="맑은 고딕"/>
        <a:font script="Hans" typeface="맑은 고딕"/>
        <a:font script="Hant" typeface="맑은 고딕"/>
        <a:font script="Arab" typeface="맑은 고딕"/>
        <a:font script="Hebr" typeface="맑은 고딕"/>
        <a:font script="Thai" typeface="맑은 고딕"/>
        <a:font script="Ethi" typeface="맑은 고딕"/>
        <a:font script="Beng" typeface="맑은 고딕"/>
        <a:font script="Gujr" typeface="맑은 고딕"/>
        <a:font script="Khmr" typeface="맑은 고딕"/>
        <a:font script="Knda" typeface="맑은 고딕"/>
        <a:font script="Guru" typeface="맑은 고딕"/>
        <a:font script="Cans" typeface="맑은 고딕"/>
        <a:font script="Cher" typeface="맑은 고딕"/>
        <a:font script="Yiii" typeface="맑은 고딕"/>
        <a:font script="Tibt" typeface="맑은 고딕"/>
        <a:font script="Thaa" typeface="맑은 고딕"/>
        <a:font script="Deva" typeface="맑은 고딕"/>
        <a:font script="Telu" typeface="맑은 고딕"/>
        <a:font script="Taml" typeface="맑은 고딕"/>
        <a:font script="Syrc" typeface="맑은 고딕"/>
        <a:font script="Orya" typeface="맑은 고딕"/>
        <a:font script="Mlym" typeface="맑은 고딕"/>
        <a:font script="Laoo" typeface="맑은 고딕"/>
        <a:font script="Sinh" typeface="맑은 고딕"/>
        <a:font script="Mong" typeface="맑은 고딕"/>
        <a:font script="Viet" typeface="맑은 고딕"/>
        <a:font script="Uigh" typeface="맑은 고딕"/>
        <a:font script="Geor" typeface="맑은 고딕"/>
      </a:majorFont>
      <a:minorFont>
        <a:latin typeface="맑은 고딕"/>
        <a:ea typeface="맑은 고딕"/>
        <a:cs typeface="맑은 고딕"/>
        <a:font script="Jpan" typeface="맑은 고딕"/>
        <a:font script="Hang" typeface="맑은 고딕"/>
        <a:font script="Hans" typeface="맑은 고딕"/>
        <a:font script="Hant" typeface="맑은 고딕"/>
        <a:font script="Arab" typeface="맑은 고딕"/>
        <a:font script="Hebr" typeface="맑은 고딕"/>
        <a:font script="Thai" typeface="맑은 고딕"/>
        <a:font script="Ethi" typeface="맑은 고딕"/>
        <a:font script="Beng" typeface="맑은 고딕"/>
        <a:font script="Gujr" typeface="맑은 고딕"/>
        <a:font script="Khmr" typeface="맑은 고딕"/>
        <a:font script="Knda" typeface="맑은 고딕"/>
        <a:font script="Guru" typeface="맑은 고딕"/>
        <a:font script="Cans" typeface="맑은 고딕"/>
        <a:font script="Cher" typeface="맑은 고딕"/>
        <a:font script="Yiii" typeface="맑은 고딕"/>
        <a:font script="Tibt" typeface="맑은 고딕"/>
        <a:font script="Thaa" typeface="맑은 고딕"/>
        <a:font script="Deva" typeface="맑은 고딕"/>
        <a:font script="Telu" typeface="맑은 고딕"/>
        <a:font script="Taml" typeface="맑은 고딕"/>
        <a:font script="Syrc" typeface="맑은 고딕"/>
        <a:font script="Orya" typeface="맑은 고딕"/>
        <a:font script="Mlym" typeface="맑은 고딕"/>
        <a:font script="Laoo" typeface="맑은 고딕"/>
        <a:font script="Sinh" typeface="맑은 고딕"/>
        <a:font script="Mong" typeface="맑은 고딕"/>
        <a:font script="Viet" typeface="맑은 고딕"/>
        <a:font script="Uigh" typeface="맑은 고딕"/>
        <a:font script="Geor" typeface="맑은 고딕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1280</Words>
  <Application>Microsoft Office PowerPoint</Application>
  <DocSecurity>0</DocSecurity>
  <PresentationFormat>와이드스크린</PresentationFormat>
  <Paragraphs>290</Paragraphs>
  <Slides>23</Slides>
  <Notes>23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kccistc</cp:lastModifiedBy>
  <cp:revision>34</cp:revision>
  <dcterms:created xsi:type="dcterms:W3CDTF">2026-10-28T12:13:17Z</dcterms:created>
  <dcterms:modified xsi:type="dcterms:W3CDTF">2026-10-29T02:43:08Z</dcterms:modified>
</cp:coreProperties>
</file>